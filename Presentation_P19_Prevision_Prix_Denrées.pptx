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83F"/>
        </a:solidFill>
      </p:bgPr>
    </p:bg>
    <p:spTree>
      <p:nvGrpSpPr>
        <p:cNvPr id="1" name=""/>
        <p:cNvGrpSpPr/>
        <p:nvPr/>
      </p:nvGrpSpPr>
      <p:grpSpPr>
        <a:xfrm>
          <a:off x="0" y="0"/>
          <a:ext cx="0" cy="0"/>
          <a:chOff x="0" y="0"/>
          <a:chExt cx="0" cy="0"/>
        </a:xfrm>
      </p:grpSpPr>
      <p:sp>
        <p:nvSpPr>
          <p:cNvPr id="2" name="Text 0"/>
          <p:cNvSpPr/>
          <p:nvPr/>
        </p:nvSpPr>
        <p:spPr>
          <a:xfrm>
            <a:off x="731520" y="731520"/>
            <a:ext cx="9144000" cy="365760"/>
          </a:xfrm>
          <a:prstGeom prst="rect">
            <a:avLst/>
          </a:prstGeom>
          <a:noFill/>
          <a:ln/>
        </p:spPr>
        <p:txBody>
          <a:bodyPr wrap="square" rtlCol="0" anchor="ctr"/>
          <a:lstStyle/>
          <a:p>
            <a:pPr indent="0" marL="0">
              <a:buNone/>
            </a:pPr>
            <a:r>
              <a:rPr lang="en-US" sz="1400" b="1" spc="200" kern="0" dirty="0">
                <a:solidFill>
                  <a:srgbClr val="9FB8CC"/>
                </a:solidFill>
              </a:rPr>
              <a:t>UNIVERSITE KOFI ANNAN DE GUINEE</a:t>
            </a:r>
            <a:endParaRPr lang="en-US" sz="1400" dirty="0"/>
          </a:p>
        </p:txBody>
      </p:sp>
      <p:sp>
        <p:nvSpPr>
          <p:cNvPr id="3" name="Text 1"/>
          <p:cNvSpPr/>
          <p:nvPr/>
        </p:nvSpPr>
        <p:spPr>
          <a:xfrm>
            <a:off x="731520" y="1097280"/>
            <a:ext cx="9144000" cy="365760"/>
          </a:xfrm>
          <a:prstGeom prst="rect">
            <a:avLst/>
          </a:prstGeom>
          <a:noFill/>
          <a:ln/>
        </p:spPr>
        <p:txBody>
          <a:bodyPr wrap="square" rtlCol="0" anchor="ctr"/>
          <a:lstStyle/>
          <a:p>
            <a:pPr indent="0" marL="0">
              <a:buNone/>
            </a:pPr>
            <a:r>
              <a:rPr lang="en-US" sz="1400" dirty="0">
                <a:solidFill>
                  <a:srgbClr val="9FB8CC"/>
                </a:solidFill>
              </a:rPr>
              <a:t>Master 1  -  Fouille de Donnees</a:t>
            </a:r>
            <a:endParaRPr lang="en-US" sz="1400" dirty="0"/>
          </a:p>
        </p:txBody>
      </p:sp>
      <p:sp>
        <p:nvSpPr>
          <p:cNvPr id="4" name="Shape 2"/>
          <p:cNvSpPr/>
          <p:nvPr/>
        </p:nvSpPr>
        <p:spPr>
          <a:xfrm>
            <a:off x="731520" y="2148840"/>
            <a:ext cx="1005840" cy="457200"/>
          </a:xfrm>
          <a:prstGeom prst="rect">
            <a:avLst/>
          </a:prstGeom>
          <a:solidFill>
            <a:srgbClr val="2E86AB"/>
          </a:solidFill>
          <a:ln/>
        </p:spPr>
      </p:sp>
      <p:sp>
        <p:nvSpPr>
          <p:cNvPr id="5" name="Text 3"/>
          <p:cNvSpPr/>
          <p:nvPr/>
        </p:nvSpPr>
        <p:spPr>
          <a:xfrm>
            <a:off x="731520" y="2148840"/>
            <a:ext cx="1005840" cy="457200"/>
          </a:xfrm>
          <a:prstGeom prst="rect">
            <a:avLst/>
          </a:prstGeom>
          <a:noFill/>
          <a:ln/>
        </p:spPr>
        <p:txBody>
          <a:bodyPr wrap="square" rtlCol="0" anchor="ctr"/>
          <a:lstStyle/>
          <a:p>
            <a:pPr algn="ctr" indent="0" marL="0">
              <a:buNone/>
            </a:pPr>
            <a:r>
              <a:rPr lang="en-US" sz="1400" b="1" dirty="0">
                <a:solidFill>
                  <a:srgbClr val="FFFFFF"/>
                </a:solidFill>
              </a:rPr>
              <a:t>SUJET P19</a:t>
            </a:r>
            <a:endParaRPr lang="en-US" sz="1400" dirty="0"/>
          </a:p>
        </p:txBody>
      </p:sp>
      <p:sp>
        <p:nvSpPr>
          <p:cNvPr id="6" name="Text 4"/>
          <p:cNvSpPr/>
          <p:nvPr/>
        </p:nvSpPr>
        <p:spPr>
          <a:xfrm>
            <a:off x="731520" y="2743200"/>
            <a:ext cx="10515600" cy="1828800"/>
          </a:xfrm>
          <a:prstGeom prst="rect">
            <a:avLst/>
          </a:prstGeom>
          <a:noFill/>
          <a:ln/>
        </p:spPr>
        <p:txBody>
          <a:bodyPr wrap="square" rtlCol="0" anchor="ctr"/>
          <a:lstStyle/>
          <a:p>
            <a:pPr indent="0" marL="0">
              <a:lnSpc>
                <a:spcPts val="4600"/>
              </a:lnSpc>
              <a:buNone/>
            </a:pPr>
            <a:r>
              <a:rPr lang="en-US" sz="4200" b="1" dirty="0">
                <a:solidFill>
                  <a:srgbClr val="FFFFFF"/>
                </a:solidFill>
              </a:rPr>
              <a:t>Prevision des prix des denrees</a:t>
            </a:r>
            <a:endParaRPr lang="en-US" sz="4200" dirty="0"/>
          </a:p>
          <a:p>
            <a:pPr indent="0" marL="0">
              <a:lnSpc>
                <a:spcPts val="4600"/>
              </a:lnSpc>
              <a:buNone/>
            </a:pPr>
            <a:r>
              <a:rPr lang="en-US" sz="4200" b="1" dirty="0">
                <a:solidFill>
                  <a:srgbClr val="FFFFFF"/>
                </a:solidFill>
              </a:rPr>
              <a:t>de base sur les marches guineens</a:t>
            </a:r>
            <a:endParaRPr lang="en-US" sz="4200" dirty="0"/>
          </a:p>
        </p:txBody>
      </p:sp>
      <p:sp>
        <p:nvSpPr>
          <p:cNvPr id="7" name="Text 5"/>
          <p:cNvSpPr/>
          <p:nvPr/>
        </p:nvSpPr>
        <p:spPr>
          <a:xfrm>
            <a:off x="731520" y="4572000"/>
            <a:ext cx="10058400" cy="457200"/>
          </a:xfrm>
          <a:prstGeom prst="rect">
            <a:avLst/>
          </a:prstGeom>
          <a:noFill/>
          <a:ln/>
        </p:spPr>
        <p:txBody>
          <a:bodyPr wrap="square" rtlCol="0" anchor="ctr"/>
          <a:lstStyle/>
          <a:p>
            <a:pPr indent="0" marL="0">
              <a:buNone/>
            </a:pPr>
            <a:r>
              <a:rPr lang="en-US" sz="1600" i="1" dirty="0">
                <a:solidFill>
                  <a:srgbClr val="CFE0EC"/>
                </a:solidFill>
              </a:rPr>
              <a:t>Riz  -  Huile  -  Sucre   |   Modelisation multi-series pour l'alerte precoce sur l'insecurite alimentaire</a:t>
            </a:r>
            <a:endParaRPr lang="en-US" sz="1600" dirty="0"/>
          </a:p>
        </p:txBody>
      </p:sp>
      <p:sp>
        <p:nvSpPr>
          <p:cNvPr id="8" name="Shape 6"/>
          <p:cNvSpPr/>
          <p:nvPr/>
        </p:nvSpPr>
        <p:spPr>
          <a:xfrm>
            <a:off x="731520" y="5257800"/>
            <a:ext cx="2926080" cy="0"/>
          </a:xfrm>
          <a:prstGeom prst="line">
            <a:avLst/>
          </a:prstGeom>
          <a:noFill/>
          <a:ln w="25400">
            <a:solidFill>
              <a:srgbClr val="2E86AB"/>
            </a:solidFill>
            <a:prstDash val="solid"/>
          </a:ln>
        </p:spPr>
      </p:sp>
      <p:sp>
        <p:nvSpPr>
          <p:cNvPr id="9" name="Text 7"/>
          <p:cNvSpPr/>
          <p:nvPr/>
        </p:nvSpPr>
        <p:spPr>
          <a:xfrm>
            <a:off x="731520" y="5486400"/>
            <a:ext cx="7315200" cy="1005840"/>
          </a:xfrm>
          <a:prstGeom prst="rect">
            <a:avLst/>
          </a:prstGeom>
          <a:noFill/>
          <a:ln/>
        </p:spPr>
        <p:txBody>
          <a:bodyPr wrap="square" rtlCol="0" anchor="ctr"/>
          <a:lstStyle/>
          <a:p>
            <a:pPr indent="0" marL="0">
              <a:lnSpc>
                <a:spcPts val="2200"/>
              </a:lnSpc>
              <a:buNone/>
            </a:pPr>
            <a:r>
              <a:rPr lang="en-US" sz="1300" dirty="0">
                <a:solidFill>
                  <a:srgbClr val="CFE0EC"/>
                </a:solidFill>
              </a:rPr>
              <a:t>Rapport de projet individuel
</a:t>
            </a:r>
            <a:pPr indent="0" marL="0">
              <a:lnSpc>
                <a:spcPts val="2200"/>
              </a:lnSpc>
              <a:buNone/>
            </a:pPr>
            <a:r>
              <a:rPr lang="en-US" sz="1200" dirty="0">
                <a:solidFill>
                  <a:srgbClr val="9FB8CC"/>
                </a:solidFill>
              </a:rPr>
              <a:t>Enseignant : Youssouf Vessou Traore
</a:t>
            </a:r>
            <a:pPr indent="0" marL="0">
              <a:lnSpc>
                <a:spcPts val="2200"/>
              </a:lnSpc>
              <a:buNone/>
            </a:pPr>
            <a:r>
              <a:rPr lang="en-US" sz="1200" dirty="0">
                <a:solidFill>
                  <a:srgbClr val="9FB8CC"/>
                </a:solidFill>
              </a:rPr>
              <a:t>Annee academique 2025 - 2026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09728"/>
            <a:ext cx="11183112" cy="292608"/>
          </a:xfrm>
          <a:prstGeom prst="rect">
            <a:avLst/>
          </a:prstGeom>
          <a:noFill/>
          <a:ln/>
        </p:spPr>
        <p:txBody>
          <a:bodyPr wrap="square" rtlCol="0" anchor="ctr"/>
          <a:lstStyle/>
          <a:p>
            <a:pPr indent="0" marL="0">
              <a:buNone/>
            </a:pPr>
            <a:r>
              <a:rPr lang="en-US" sz="1200" b="1" spc="200" kern="0" dirty="0">
                <a:solidFill>
                  <a:srgbClr val="2E86AB"/>
                </a:solidFill>
                <a:latin typeface="Calibri" pitchFamily="34" charset="0"/>
                <a:ea typeface="Calibri" pitchFamily="34" charset="-122"/>
                <a:cs typeface="Calibri" pitchFamily="34" charset="-120"/>
              </a:rPr>
              <a:t>1. COMPREHENSION METIER</a:t>
            </a:r>
            <a:endParaRPr lang="en-US" sz="1200" dirty="0"/>
          </a:p>
        </p:txBody>
      </p:sp>
      <p:sp>
        <p:nvSpPr>
          <p:cNvPr id="3" name="Text 1"/>
          <p:cNvSpPr/>
          <p:nvPr/>
        </p:nvSpPr>
        <p:spPr>
          <a:xfrm>
            <a:off x="502920" y="365760"/>
            <a:ext cx="11183112" cy="82296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Quelle decision le modele doit-il eclairer ?</a:t>
            </a:r>
            <a:endParaRPr lang="en-US" sz="3000" dirty="0"/>
          </a:p>
        </p:txBody>
      </p:sp>
      <p:sp>
        <p:nvSpPr>
          <p:cNvPr id="4" name="Shape 2"/>
          <p:cNvSpPr/>
          <p:nvPr/>
        </p:nvSpPr>
        <p:spPr>
          <a:xfrm>
            <a:off x="502920" y="1417320"/>
            <a:ext cx="6949440" cy="4480560"/>
          </a:xfrm>
          <a:prstGeom prst="roundRect">
            <a:avLst>
              <a:gd name="adj" fmla="val 1633"/>
            </a:avLst>
          </a:prstGeom>
          <a:solidFill>
            <a:srgbClr val="EAF1F6"/>
          </a:solidFill>
          <a:ln/>
        </p:spPr>
      </p:sp>
      <p:sp>
        <p:nvSpPr>
          <p:cNvPr id="5" name="Text 3"/>
          <p:cNvSpPr/>
          <p:nvPr/>
        </p:nvSpPr>
        <p:spPr>
          <a:xfrm>
            <a:off x="868680" y="1737360"/>
            <a:ext cx="6217920" cy="1371600"/>
          </a:xfrm>
          <a:prstGeom prst="rect">
            <a:avLst/>
          </a:prstGeom>
          <a:noFill/>
          <a:ln/>
        </p:spPr>
        <p:txBody>
          <a:bodyPr wrap="square" rtlCol="0" anchor="ctr"/>
          <a:lstStyle/>
          <a:p>
            <a:pPr indent="0" marL="0">
              <a:lnSpc>
                <a:spcPts val="2600"/>
              </a:lnSpc>
              <a:buNone/>
            </a:pPr>
            <a:r>
              <a:rPr lang="en-US" sz="1800" b="1" i="1" dirty="0">
                <a:solidFill>
                  <a:srgbClr val="1B3A5C"/>
                </a:solidFill>
              </a:rPr>
              <a:t>“ Le prix de X va-t-il augmenter de maniere significative dans</a:t>
            </a:r>
            <a:endParaRPr lang="en-US" sz="1800" dirty="0"/>
          </a:p>
          <a:p>
            <a:pPr indent="0" marL="0">
              <a:lnSpc>
                <a:spcPts val="2600"/>
              </a:lnSpc>
              <a:buNone/>
            </a:pPr>
            <a:r>
              <a:rPr lang="en-US" sz="1800" b="1" i="1" dirty="0">
                <a:solidFill>
                  <a:srgbClr val="1B3A5C"/>
                </a:solidFill>
              </a:rPr>
              <a:t>les prochaines semaines, sur quel marche, afin de prioriser</a:t>
            </a:r>
            <a:endParaRPr lang="en-US" sz="1800" dirty="0"/>
          </a:p>
          <a:p>
            <a:pPr indent="0" marL="0">
              <a:lnSpc>
                <a:spcPts val="2600"/>
              </a:lnSpc>
              <a:buNone/>
            </a:pPr>
            <a:r>
              <a:rPr lang="en-US" sz="1800" b="1" i="1" dirty="0">
                <a:solidFill>
                  <a:srgbClr val="1B3A5C"/>
                </a:solidFill>
              </a:rPr>
              <a:t>une intervention ? ”</a:t>
            </a:r>
            <a:endParaRPr lang="en-US" sz="1800" dirty="0"/>
          </a:p>
        </p:txBody>
      </p:sp>
      <p:sp>
        <p:nvSpPr>
          <p:cNvPr id="6" name="Shape 4"/>
          <p:cNvSpPr/>
          <p:nvPr/>
        </p:nvSpPr>
        <p:spPr>
          <a:xfrm>
            <a:off x="868680" y="3246120"/>
            <a:ext cx="6217920" cy="0"/>
          </a:xfrm>
          <a:prstGeom prst="line">
            <a:avLst/>
          </a:prstGeom>
          <a:noFill/>
          <a:ln w="12700">
            <a:solidFill>
              <a:srgbClr val="2E86AB"/>
            </a:solidFill>
            <a:prstDash val="solid"/>
          </a:ln>
        </p:spPr>
      </p:sp>
      <p:sp>
        <p:nvSpPr>
          <p:cNvPr id="7" name="Shape 5"/>
          <p:cNvSpPr/>
          <p:nvPr/>
        </p:nvSpPr>
        <p:spPr>
          <a:xfrm>
            <a:off x="868680" y="3538728"/>
            <a:ext cx="109728" cy="109728"/>
          </a:xfrm>
          <a:prstGeom prst="ellipse">
            <a:avLst/>
          </a:prstGeom>
          <a:solidFill>
            <a:srgbClr val="2E86AB"/>
          </a:solidFill>
          <a:ln/>
        </p:spPr>
      </p:sp>
      <p:sp>
        <p:nvSpPr>
          <p:cNvPr id="8" name="Text 6"/>
          <p:cNvSpPr/>
          <p:nvPr/>
        </p:nvSpPr>
        <p:spPr>
          <a:xfrm>
            <a:off x="1143000" y="3474720"/>
            <a:ext cx="5852160" cy="274320"/>
          </a:xfrm>
          <a:prstGeom prst="rect">
            <a:avLst/>
          </a:prstGeom>
          <a:noFill/>
          <a:ln/>
        </p:spPr>
        <p:txBody>
          <a:bodyPr wrap="square" rtlCol="0" anchor="ctr"/>
          <a:lstStyle/>
          <a:p>
            <a:pPr indent="0" marL="0">
              <a:buNone/>
            </a:pPr>
            <a:r>
              <a:rPr lang="en-US" sz="1400" b="1" dirty="0">
                <a:solidFill>
                  <a:srgbClr val="1B3A5C"/>
                </a:solidFill>
              </a:rPr>
              <a:t>Services de securite alimentaire</a:t>
            </a:r>
            <a:endParaRPr lang="en-US" sz="1400" dirty="0"/>
          </a:p>
        </p:txBody>
      </p:sp>
      <p:sp>
        <p:nvSpPr>
          <p:cNvPr id="9" name="Text 7"/>
          <p:cNvSpPr/>
          <p:nvPr/>
        </p:nvSpPr>
        <p:spPr>
          <a:xfrm>
            <a:off x="1143000" y="3767328"/>
            <a:ext cx="5852160" cy="411480"/>
          </a:xfrm>
          <a:prstGeom prst="rect">
            <a:avLst/>
          </a:prstGeom>
          <a:noFill/>
          <a:ln/>
        </p:spPr>
        <p:txBody>
          <a:bodyPr wrap="square" rtlCol="0" anchor="ctr"/>
          <a:lstStyle/>
          <a:p>
            <a:pPr indent="0" marL="0">
              <a:buNone/>
            </a:pPr>
            <a:r>
              <a:rPr lang="en-US" sz="1200" dirty="0">
                <a:solidFill>
                  <a:srgbClr val="5A6B7A"/>
                </a:solidFill>
              </a:rPr>
              <a:t>Declencher une veille ou une reponse humanitaire des qu'une hausse anormale est prevue</a:t>
            </a:r>
            <a:endParaRPr lang="en-US" sz="1200" dirty="0"/>
          </a:p>
        </p:txBody>
      </p:sp>
      <p:sp>
        <p:nvSpPr>
          <p:cNvPr id="10" name="Shape 8"/>
          <p:cNvSpPr/>
          <p:nvPr/>
        </p:nvSpPr>
        <p:spPr>
          <a:xfrm>
            <a:off x="868680" y="4315968"/>
            <a:ext cx="109728" cy="109728"/>
          </a:xfrm>
          <a:prstGeom prst="ellipse">
            <a:avLst/>
          </a:prstGeom>
          <a:solidFill>
            <a:srgbClr val="2E86AB"/>
          </a:solidFill>
          <a:ln/>
        </p:spPr>
      </p:sp>
      <p:sp>
        <p:nvSpPr>
          <p:cNvPr id="11" name="Text 9"/>
          <p:cNvSpPr/>
          <p:nvPr/>
        </p:nvSpPr>
        <p:spPr>
          <a:xfrm>
            <a:off x="1143000" y="4251960"/>
            <a:ext cx="5852160" cy="274320"/>
          </a:xfrm>
          <a:prstGeom prst="rect">
            <a:avLst/>
          </a:prstGeom>
          <a:noFill/>
          <a:ln/>
        </p:spPr>
        <p:txBody>
          <a:bodyPr wrap="square" rtlCol="0" anchor="ctr"/>
          <a:lstStyle/>
          <a:p>
            <a:pPr indent="0" marL="0">
              <a:buNone/>
            </a:pPr>
            <a:r>
              <a:rPr lang="en-US" sz="1400" b="1" dirty="0">
                <a:solidFill>
                  <a:srgbClr val="1B3A5C"/>
                </a:solidFill>
              </a:rPr>
              <a:t>Autorites et ministeres</a:t>
            </a:r>
            <a:endParaRPr lang="en-US" sz="1400" dirty="0"/>
          </a:p>
        </p:txBody>
      </p:sp>
      <p:sp>
        <p:nvSpPr>
          <p:cNvPr id="12" name="Text 10"/>
          <p:cNvSpPr/>
          <p:nvPr/>
        </p:nvSpPr>
        <p:spPr>
          <a:xfrm>
            <a:off x="1143000" y="4544568"/>
            <a:ext cx="5852160" cy="411480"/>
          </a:xfrm>
          <a:prstGeom prst="rect">
            <a:avLst/>
          </a:prstGeom>
          <a:noFill/>
          <a:ln/>
        </p:spPr>
        <p:txBody>
          <a:bodyPr wrap="square" rtlCol="0" anchor="ctr"/>
          <a:lstStyle/>
          <a:p>
            <a:pPr indent="0" marL="0">
              <a:buNone/>
            </a:pPr>
            <a:r>
              <a:rPr lang="en-US" sz="1200" dirty="0">
                <a:solidFill>
                  <a:srgbClr val="5A6B7A"/>
                </a:solidFill>
              </a:rPr>
              <a:t>Ajuster les stocks de securite et les mesures de regulation du marche</a:t>
            </a:r>
            <a:endParaRPr lang="en-US" sz="1200" dirty="0"/>
          </a:p>
        </p:txBody>
      </p:sp>
      <p:sp>
        <p:nvSpPr>
          <p:cNvPr id="13" name="Shape 11"/>
          <p:cNvSpPr/>
          <p:nvPr/>
        </p:nvSpPr>
        <p:spPr>
          <a:xfrm>
            <a:off x="868680" y="5093208"/>
            <a:ext cx="109728" cy="109728"/>
          </a:xfrm>
          <a:prstGeom prst="ellipse">
            <a:avLst/>
          </a:prstGeom>
          <a:solidFill>
            <a:srgbClr val="2E86AB"/>
          </a:solidFill>
          <a:ln/>
        </p:spPr>
      </p:sp>
      <p:sp>
        <p:nvSpPr>
          <p:cNvPr id="14" name="Text 12"/>
          <p:cNvSpPr/>
          <p:nvPr/>
        </p:nvSpPr>
        <p:spPr>
          <a:xfrm>
            <a:off x="1143000" y="5029200"/>
            <a:ext cx="5852160" cy="274320"/>
          </a:xfrm>
          <a:prstGeom prst="rect">
            <a:avLst/>
          </a:prstGeom>
          <a:noFill/>
          <a:ln/>
        </p:spPr>
        <p:txBody>
          <a:bodyPr wrap="square" rtlCol="0" anchor="ctr"/>
          <a:lstStyle/>
          <a:p>
            <a:pPr indent="0" marL="0">
              <a:buNone/>
            </a:pPr>
            <a:r>
              <a:rPr lang="en-US" sz="1400" b="1" dirty="0">
                <a:solidFill>
                  <a:srgbClr val="1B3A5C"/>
                </a:solidFill>
              </a:rPr>
              <a:t>ONG et organisations humanitaires</a:t>
            </a:r>
            <a:endParaRPr lang="en-US" sz="1400" dirty="0"/>
          </a:p>
        </p:txBody>
      </p:sp>
      <p:sp>
        <p:nvSpPr>
          <p:cNvPr id="15" name="Text 13"/>
          <p:cNvSpPr/>
          <p:nvPr/>
        </p:nvSpPr>
        <p:spPr>
          <a:xfrm>
            <a:off x="1143000" y="5321808"/>
            <a:ext cx="5852160" cy="411480"/>
          </a:xfrm>
          <a:prstGeom prst="rect">
            <a:avLst/>
          </a:prstGeom>
          <a:noFill/>
          <a:ln/>
        </p:spPr>
        <p:txBody>
          <a:bodyPr wrap="square" rtlCol="0" anchor="ctr"/>
          <a:lstStyle/>
          <a:p>
            <a:pPr indent="0" marL="0">
              <a:buNone/>
            </a:pPr>
            <a:r>
              <a:rPr lang="en-US" sz="1200" dirty="0">
                <a:solidFill>
                  <a:srgbClr val="5A6B7A"/>
                </a:solidFill>
              </a:rPr>
              <a:t>Dimensionner les transferts monetaires selon le pouvoir d'achat attendu</a:t>
            </a:r>
            <a:endParaRPr lang="en-US" sz="1200" dirty="0"/>
          </a:p>
        </p:txBody>
      </p:sp>
      <p:sp>
        <p:nvSpPr>
          <p:cNvPr id="16" name="Shape 14"/>
          <p:cNvSpPr/>
          <p:nvPr/>
        </p:nvSpPr>
        <p:spPr>
          <a:xfrm>
            <a:off x="7680960" y="1417320"/>
            <a:ext cx="3977640" cy="4480560"/>
          </a:xfrm>
          <a:prstGeom prst="roundRect">
            <a:avLst>
              <a:gd name="adj" fmla="val 1839"/>
            </a:avLst>
          </a:prstGeom>
          <a:solidFill>
            <a:srgbClr val="1B3A5C"/>
          </a:solidFill>
          <a:ln/>
        </p:spPr>
      </p:sp>
      <p:sp>
        <p:nvSpPr>
          <p:cNvPr id="17" name="Text 15"/>
          <p:cNvSpPr/>
          <p:nvPr/>
        </p:nvSpPr>
        <p:spPr>
          <a:xfrm>
            <a:off x="8001000" y="1691640"/>
            <a:ext cx="3383280" cy="320040"/>
          </a:xfrm>
          <a:prstGeom prst="rect">
            <a:avLst/>
          </a:prstGeom>
          <a:noFill/>
          <a:ln/>
        </p:spPr>
        <p:txBody>
          <a:bodyPr wrap="square" rtlCol="0" anchor="ctr"/>
          <a:lstStyle/>
          <a:p>
            <a:pPr indent="0" marL="0">
              <a:buNone/>
            </a:pPr>
            <a:r>
              <a:rPr lang="en-US" sz="1200" b="1" spc="100" kern="0" dirty="0">
                <a:solidFill>
                  <a:srgbClr val="9FB8CC"/>
                </a:solidFill>
              </a:rPr>
              <a:t>PERIMETRE DU PROJET</a:t>
            </a:r>
            <a:endParaRPr lang="en-US" sz="1200" dirty="0"/>
          </a:p>
        </p:txBody>
      </p:sp>
      <p:sp>
        <p:nvSpPr>
          <p:cNvPr id="18" name="Text 16"/>
          <p:cNvSpPr/>
          <p:nvPr/>
        </p:nvSpPr>
        <p:spPr>
          <a:xfrm>
            <a:off x="8001000" y="2194560"/>
            <a:ext cx="3383280" cy="411480"/>
          </a:xfrm>
          <a:prstGeom prst="rect">
            <a:avLst/>
          </a:prstGeom>
          <a:noFill/>
          <a:ln/>
        </p:spPr>
        <p:txBody>
          <a:bodyPr wrap="square" rtlCol="0" anchor="ctr"/>
          <a:lstStyle/>
          <a:p>
            <a:pPr indent="0" marL="0">
              <a:buNone/>
            </a:pPr>
            <a:r>
              <a:rPr lang="en-US" sz="2400" b="1" dirty="0">
                <a:solidFill>
                  <a:srgbClr val="FFFFFF"/>
                </a:solidFill>
              </a:rPr>
              <a:t>3 denrees</a:t>
            </a:r>
            <a:endParaRPr lang="en-US" sz="2400" dirty="0"/>
          </a:p>
        </p:txBody>
      </p:sp>
      <p:sp>
        <p:nvSpPr>
          <p:cNvPr id="19" name="Text 17"/>
          <p:cNvSpPr/>
          <p:nvPr/>
        </p:nvSpPr>
        <p:spPr>
          <a:xfrm>
            <a:off x="8001000" y="2615184"/>
            <a:ext cx="3383280" cy="411480"/>
          </a:xfrm>
          <a:prstGeom prst="rect">
            <a:avLst/>
          </a:prstGeom>
          <a:noFill/>
          <a:ln/>
        </p:spPr>
        <p:txBody>
          <a:bodyPr wrap="square" rtlCol="0" anchor="ctr"/>
          <a:lstStyle/>
          <a:p>
            <a:pPr indent="0" marL="0">
              <a:buNone/>
            </a:pPr>
            <a:r>
              <a:rPr lang="en-US" sz="1200" dirty="0">
                <a:solidFill>
                  <a:srgbClr val="CFE0EC"/>
                </a:solidFill>
              </a:rPr>
              <a:t>Riz, huile de palme, sucre</a:t>
            </a:r>
            <a:endParaRPr lang="en-US" sz="1200" dirty="0"/>
          </a:p>
        </p:txBody>
      </p:sp>
      <p:sp>
        <p:nvSpPr>
          <p:cNvPr id="20" name="Text 18"/>
          <p:cNvSpPr/>
          <p:nvPr/>
        </p:nvSpPr>
        <p:spPr>
          <a:xfrm>
            <a:off x="8001000" y="3154680"/>
            <a:ext cx="3383280" cy="411480"/>
          </a:xfrm>
          <a:prstGeom prst="rect">
            <a:avLst/>
          </a:prstGeom>
          <a:noFill/>
          <a:ln/>
        </p:spPr>
        <p:txBody>
          <a:bodyPr wrap="square" rtlCol="0" anchor="ctr"/>
          <a:lstStyle/>
          <a:p>
            <a:pPr indent="0" marL="0">
              <a:buNone/>
            </a:pPr>
            <a:r>
              <a:rPr lang="en-US" sz="2400" b="1" dirty="0">
                <a:solidFill>
                  <a:srgbClr val="FFFFFF"/>
                </a:solidFill>
              </a:rPr>
              <a:t>5 marches</a:t>
            </a:r>
            <a:endParaRPr lang="en-US" sz="2400" dirty="0"/>
          </a:p>
        </p:txBody>
      </p:sp>
      <p:sp>
        <p:nvSpPr>
          <p:cNvPr id="21" name="Text 19"/>
          <p:cNvSpPr/>
          <p:nvPr/>
        </p:nvSpPr>
        <p:spPr>
          <a:xfrm>
            <a:off x="8001000" y="3575304"/>
            <a:ext cx="3383280" cy="411480"/>
          </a:xfrm>
          <a:prstGeom prst="rect">
            <a:avLst/>
          </a:prstGeom>
          <a:noFill/>
          <a:ln/>
        </p:spPr>
        <p:txBody>
          <a:bodyPr wrap="square" rtlCol="0" anchor="ctr"/>
          <a:lstStyle/>
          <a:p>
            <a:pPr indent="0" marL="0">
              <a:buNone/>
            </a:pPr>
            <a:r>
              <a:rPr lang="en-US" sz="1200" dirty="0">
                <a:solidFill>
                  <a:srgbClr val="CFE0EC"/>
                </a:solidFill>
              </a:rPr>
              <a:t>Conakry, Kindia, Labe, Kankan, Nzerekore</a:t>
            </a:r>
            <a:endParaRPr lang="en-US" sz="1200" dirty="0"/>
          </a:p>
        </p:txBody>
      </p:sp>
      <p:sp>
        <p:nvSpPr>
          <p:cNvPr id="22" name="Text 20"/>
          <p:cNvSpPr/>
          <p:nvPr/>
        </p:nvSpPr>
        <p:spPr>
          <a:xfrm>
            <a:off x="8001000" y="4114800"/>
            <a:ext cx="3383280" cy="411480"/>
          </a:xfrm>
          <a:prstGeom prst="rect">
            <a:avLst/>
          </a:prstGeom>
          <a:noFill/>
          <a:ln/>
        </p:spPr>
        <p:txBody>
          <a:bodyPr wrap="square" rtlCol="0" anchor="ctr"/>
          <a:lstStyle/>
          <a:p>
            <a:pPr indent="0" marL="0">
              <a:buNone/>
            </a:pPr>
            <a:r>
              <a:rPr lang="en-US" sz="2400" b="1" dirty="0">
                <a:solidFill>
                  <a:srgbClr val="FFFFFF"/>
                </a:solidFill>
              </a:rPr>
              <a:t>6 ans</a:t>
            </a:r>
            <a:endParaRPr lang="en-US" sz="2400" dirty="0"/>
          </a:p>
        </p:txBody>
      </p:sp>
      <p:sp>
        <p:nvSpPr>
          <p:cNvPr id="23" name="Text 21"/>
          <p:cNvSpPr/>
          <p:nvPr/>
        </p:nvSpPr>
        <p:spPr>
          <a:xfrm>
            <a:off x="8001000" y="4535424"/>
            <a:ext cx="3383280" cy="411480"/>
          </a:xfrm>
          <a:prstGeom prst="rect">
            <a:avLst/>
          </a:prstGeom>
          <a:noFill/>
          <a:ln/>
        </p:spPr>
        <p:txBody>
          <a:bodyPr wrap="square" rtlCol="0" anchor="ctr"/>
          <a:lstStyle/>
          <a:p>
            <a:pPr indent="0" marL="0">
              <a:buNone/>
            </a:pPr>
            <a:r>
              <a:rPr lang="en-US" sz="1200" dirty="0">
                <a:solidFill>
                  <a:srgbClr val="CFE0EC"/>
                </a:solidFill>
              </a:rPr>
              <a:t>Janvier 2019 - decembre 2024</a:t>
            </a:r>
            <a:endParaRPr lang="en-US" sz="1200" dirty="0"/>
          </a:p>
        </p:txBody>
      </p:sp>
      <p:sp>
        <p:nvSpPr>
          <p:cNvPr id="24" name="Text 22"/>
          <p:cNvSpPr/>
          <p:nvPr/>
        </p:nvSpPr>
        <p:spPr>
          <a:xfrm>
            <a:off x="8001000" y="5074920"/>
            <a:ext cx="3383280" cy="411480"/>
          </a:xfrm>
          <a:prstGeom prst="rect">
            <a:avLst/>
          </a:prstGeom>
          <a:noFill/>
          <a:ln/>
        </p:spPr>
        <p:txBody>
          <a:bodyPr wrap="square" rtlCol="0" anchor="ctr"/>
          <a:lstStyle/>
          <a:p>
            <a:pPr indent="0" marL="0">
              <a:buNone/>
            </a:pPr>
            <a:r>
              <a:rPr lang="en-US" sz="2400" b="1" dirty="0">
                <a:solidFill>
                  <a:srgbClr val="FFFFFF"/>
                </a:solidFill>
              </a:rPr>
              <a:t>12 semaines</a:t>
            </a:r>
            <a:endParaRPr lang="en-US" sz="2400" dirty="0"/>
          </a:p>
        </p:txBody>
      </p:sp>
      <p:sp>
        <p:nvSpPr>
          <p:cNvPr id="25" name="Text 23"/>
          <p:cNvSpPr/>
          <p:nvPr/>
        </p:nvSpPr>
        <p:spPr>
          <a:xfrm>
            <a:off x="8001000" y="5495544"/>
            <a:ext cx="3383280" cy="411480"/>
          </a:xfrm>
          <a:prstGeom prst="rect">
            <a:avLst/>
          </a:prstGeom>
          <a:noFill/>
          <a:ln/>
        </p:spPr>
        <p:txBody>
          <a:bodyPr wrap="square" rtlCol="0" anchor="ctr"/>
          <a:lstStyle/>
          <a:p>
            <a:pPr indent="0" marL="0">
              <a:buNone/>
            </a:pPr>
            <a:r>
              <a:rPr lang="en-US" sz="1200" dirty="0">
                <a:solidFill>
                  <a:srgbClr val="CFE0EC"/>
                </a:solidFill>
              </a:rPr>
              <a:t>Horizon de prevision evalue</a:t>
            </a:r>
            <a:endParaRPr lang="en-US" sz="1200" dirty="0"/>
          </a:p>
        </p:txBody>
      </p:sp>
      <p:sp>
        <p:nvSpPr>
          <p:cNvPr id="26" name="Text 24"/>
          <p:cNvSpPr/>
          <p:nvPr/>
        </p:nvSpPr>
        <p:spPr>
          <a:xfrm>
            <a:off x="502920" y="6400800"/>
            <a:ext cx="5486400" cy="274320"/>
          </a:xfrm>
          <a:prstGeom prst="rect">
            <a:avLst/>
          </a:prstGeom>
          <a:noFill/>
          <a:ln/>
        </p:spPr>
        <p:txBody>
          <a:bodyPr wrap="square" rtlCol="0" anchor="ctr"/>
          <a:lstStyle/>
          <a:p>
            <a:pPr indent="0" marL="0">
              <a:buNone/>
            </a:pPr>
            <a:r>
              <a:rPr lang="en-US" sz="1000" dirty="0">
                <a:solidFill>
                  <a:srgbClr val="5A6B7A"/>
                </a:solidFill>
              </a:rPr>
              <a:t>Fouille de Donnees M1  -  Projet P19</a:t>
            </a:r>
            <a:endParaRPr lang="en-US" sz="1000" dirty="0"/>
          </a:p>
        </p:txBody>
      </p:sp>
      <p:sp>
        <p:nvSpPr>
          <p:cNvPr id="27" name="Text 25"/>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6B7A"/>
                </a:solidFill>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09728"/>
            <a:ext cx="11183112" cy="292608"/>
          </a:xfrm>
          <a:prstGeom prst="rect">
            <a:avLst/>
          </a:prstGeom>
          <a:noFill/>
          <a:ln/>
        </p:spPr>
        <p:txBody>
          <a:bodyPr wrap="square" rtlCol="0" anchor="ctr"/>
          <a:lstStyle/>
          <a:p>
            <a:pPr indent="0" marL="0">
              <a:buNone/>
            </a:pPr>
            <a:r>
              <a:rPr lang="en-US" sz="1200" b="1" spc="200" kern="0" dirty="0">
                <a:solidFill>
                  <a:srgbClr val="2E86AB"/>
                </a:solidFill>
                <a:latin typeface="Calibri" pitchFamily="34" charset="0"/>
                <a:ea typeface="Calibri" pitchFamily="34" charset="-122"/>
                <a:cs typeface="Calibri" pitchFamily="34" charset="-120"/>
              </a:rPr>
              <a:t>2. COMPREHENSION DES DONNEES</a:t>
            </a:r>
            <a:endParaRPr lang="en-US" sz="1200" dirty="0"/>
          </a:p>
        </p:txBody>
      </p:sp>
      <p:sp>
        <p:nvSpPr>
          <p:cNvPr id="3" name="Text 1"/>
          <p:cNvSpPr/>
          <p:nvPr/>
        </p:nvSpPr>
        <p:spPr>
          <a:xfrm>
            <a:off x="502920" y="365760"/>
            <a:ext cx="11183112" cy="82296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Origine, volumetrie et structure des donnees</a:t>
            </a:r>
            <a:endParaRPr lang="en-US" sz="3000" dirty="0"/>
          </a:p>
        </p:txBody>
      </p:sp>
      <p:sp>
        <p:nvSpPr>
          <p:cNvPr id="4" name="Shape 2"/>
          <p:cNvSpPr/>
          <p:nvPr/>
        </p:nvSpPr>
        <p:spPr>
          <a:xfrm>
            <a:off x="502920" y="1508760"/>
            <a:ext cx="2606040" cy="1554480"/>
          </a:xfrm>
          <a:prstGeom prst="roundRect">
            <a:avLst>
              <a:gd name="adj" fmla="val 4706"/>
            </a:avLst>
          </a:prstGeom>
          <a:solidFill>
            <a:srgbClr val="F7F9FB"/>
          </a:solidFill>
          <a:ln w="19050">
            <a:solidFill>
              <a:srgbClr val="2E86AB"/>
            </a:solidFill>
            <a:prstDash val="solid"/>
          </a:ln>
        </p:spPr>
      </p:sp>
      <p:sp>
        <p:nvSpPr>
          <p:cNvPr id="5" name="Text 3"/>
          <p:cNvSpPr/>
          <p:nvPr/>
        </p:nvSpPr>
        <p:spPr>
          <a:xfrm>
            <a:off x="502920" y="1691640"/>
            <a:ext cx="2606040" cy="640080"/>
          </a:xfrm>
          <a:prstGeom prst="rect">
            <a:avLst/>
          </a:prstGeom>
          <a:noFill/>
          <a:ln/>
        </p:spPr>
        <p:txBody>
          <a:bodyPr wrap="square" rtlCol="0" anchor="ctr"/>
          <a:lstStyle/>
          <a:p>
            <a:pPr algn="ctr" indent="0" marL="0">
              <a:buNone/>
            </a:pPr>
            <a:r>
              <a:rPr lang="en-US" sz="3000" b="1" dirty="0">
                <a:solidFill>
                  <a:srgbClr val="2E86AB"/>
                </a:solidFill>
              </a:rPr>
              <a:t>4 742</a:t>
            </a:r>
            <a:endParaRPr lang="en-US" sz="3000" dirty="0"/>
          </a:p>
        </p:txBody>
      </p:sp>
      <p:sp>
        <p:nvSpPr>
          <p:cNvPr id="6" name="Text 4"/>
          <p:cNvSpPr/>
          <p:nvPr/>
        </p:nvSpPr>
        <p:spPr>
          <a:xfrm>
            <a:off x="502920" y="2331720"/>
            <a:ext cx="2606040" cy="640080"/>
          </a:xfrm>
          <a:prstGeom prst="rect">
            <a:avLst/>
          </a:prstGeom>
          <a:noFill/>
          <a:ln/>
        </p:spPr>
        <p:txBody>
          <a:bodyPr wrap="square" rtlCol="0" anchor="ctr"/>
          <a:lstStyle/>
          <a:p>
            <a:pPr algn="ctr" indent="0" marL="0">
              <a:buNone/>
            </a:pPr>
            <a:r>
              <a:rPr lang="en-US" sz="1200" dirty="0">
                <a:solidFill>
                  <a:srgbClr val="5A6B7A"/>
                </a:solidFill>
              </a:rPr>
              <a:t>observations</a:t>
            </a:r>
            <a:endParaRPr lang="en-US" sz="1200" dirty="0"/>
          </a:p>
          <a:p>
            <a:pPr algn="ctr" indent="0" marL="0">
              <a:buNone/>
            </a:pPr>
            <a:r>
              <a:rPr lang="en-US" sz="1200" dirty="0">
                <a:solidFill>
                  <a:srgbClr val="5A6B7A"/>
                </a:solidFill>
              </a:rPr>
              <a:t>(avant nettoyage)</a:t>
            </a:r>
            <a:endParaRPr lang="en-US" sz="1200" dirty="0"/>
          </a:p>
        </p:txBody>
      </p:sp>
      <p:sp>
        <p:nvSpPr>
          <p:cNvPr id="7" name="Shape 5"/>
          <p:cNvSpPr/>
          <p:nvPr/>
        </p:nvSpPr>
        <p:spPr>
          <a:xfrm>
            <a:off x="3246120" y="1508760"/>
            <a:ext cx="2606040" cy="1554480"/>
          </a:xfrm>
          <a:prstGeom prst="roundRect">
            <a:avLst>
              <a:gd name="adj" fmla="val 4706"/>
            </a:avLst>
          </a:prstGeom>
          <a:solidFill>
            <a:srgbClr val="F7F9FB"/>
          </a:solidFill>
          <a:ln w="19050">
            <a:solidFill>
              <a:srgbClr val="E67E22"/>
            </a:solidFill>
            <a:prstDash val="solid"/>
          </a:ln>
        </p:spPr>
      </p:sp>
      <p:sp>
        <p:nvSpPr>
          <p:cNvPr id="8" name="Text 6"/>
          <p:cNvSpPr/>
          <p:nvPr/>
        </p:nvSpPr>
        <p:spPr>
          <a:xfrm>
            <a:off x="3246120" y="1691640"/>
            <a:ext cx="2606040" cy="640080"/>
          </a:xfrm>
          <a:prstGeom prst="rect">
            <a:avLst/>
          </a:prstGeom>
          <a:noFill/>
          <a:ln/>
        </p:spPr>
        <p:txBody>
          <a:bodyPr wrap="square" rtlCol="0" anchor="ctr"/>
          <a:lstStyle/>
          <a:p>
            <a:pPr algn="ctr" indent="0" marL="0">
              <a:buNone/>
            </a:pPr>
            <a:r>
              <a:rPr lang="en-US" sz="3000" b="1" dirty="0">
                <a:solidFill>
                  <a:srgbClr val="E67E22"/>
                </a:solidFill>
              </a:rPr>
              <a:t>313</a:t>
            </a:r>
            <a:endParaRPr lang="en-US" sz="3000" dirty="0"/>
          </a:p>
        </p:txBody>
      </p:sp>
      <p:sp>
        <p:nvSpPr>
          <p:cNvPr id="9" name="Text 7"/>
          <p:cNvSpPr/>
          <p:nvPr/>
        </p:nvSpPr>
        <p:spPr>
          <a:xfrm>
            <a:off x="3246120" y="2331720"/>
            <a:ext cx="2606040" cy="640080"/>
          </a:xfrm>
          <a:prstGeom prst="rect">
            <a:avLst/>
          </a:prstGeom>
          <a:noFill/>
          <a:ln/>
        </p:spPr>
        <p:txBody>
          <a:bodyPr wrap="square" rtlCol="0" anchor="ctr"/>
          <a:lstStyle/>
          <a:p>
            <a:pPr algn="ctr" indent="0" marL="0">
              <a:buNone/>
            </a:pPr>
            <a:r>
              <a:rPr lang="en-US" sz="1200" dirty="0">
                <a:solidFill>
                  <a:srgbClr val="5A6B7A"/>
                </a:solidFill>
              </a:rPr>
              <a:t>semaines</a:t>
            </a:r>
            <a:endParaRPr lang="en-US" sz="1200" dirty="0"/>
          </a:p>
          <a:p>
            <a:pPr algn="ctr" indent="0" marL="0">
              <a:buNone/>
            </a:pPr>
            <a:r>
              <a:rPr lang="en-US" sz="1200" dirty="0">
                <a:solidFill>
                  <a:srgbClr val="5A6B7A"/>
                </a:solidFill>
              </a:rPr>
              <a:t>(2019 - 2024)</a:t>
            </a:r>
            <a:endParaRPr lang="en-US" sz="1200" dirty="0"/>
          </a:p>
        </p:txBody>
      </p:sp>
      <p:sp>
        <p:nvSpPr>
          <p:cNvPr id="10" name="Shape 8"/>
          <p:cNvSpPr/>
          <p:nvPr/>
        </p:nvSpPr>
        <p:spPr>
          <a:xfrm>
            <a:off x="5989320" y="1508760"/>
            <a:ext cx="2606040" cy="1554480"/>
          </a:xfrm>
          <a:prstGeom prst="roundRect">
            <a:avLst>
              <a:gd name="adj" fmla="val 4706"/>
            </a:avLst>
          </a:prstGeom>
          <a:solidFill>
            <a:srgbClr val="F7F9FB"/>
          </a:solidFill>
          <a:ln w="19050">
            <a:solidFill>
              <a:srgbClr val="27AE60"/>
            </a:solidFill>
            <a:prstDash val="solid"/>
          </a:ln>
        </p:spPr>
      </p:sp>
      <p:sp>
        <p:nvSpPr>
          <p:cNvPr id="11" name="Text 9"/>
          <p:cNvSpPr/>
          <p:nvPr/>
        </p:nvSpPr>
        <p:spPr>
          <a:xfrm>
            <a:off x="5989320" y="1691640"/>
            <a:ext cx="2606040" cy="640080"/>
          </a:xfrm>
          <a:prstGeom prst="rect">
            <a:avLst/>
          </a:prstGeom>
          <a:noFill/>
          <a:ln/>
        </p:spPr>
        <p:txBody>
          <a:bodyPr wrap="square" rtlCol="0" anchor="ctr"/>
          <a:lstStyle/>
          <a:p>
            <a:pPr algn="ctr" indent="0" marL="0">
              <a:buNone/>
            </a:pPr>
            <a:r>
              <a:rPr lang="en-US" sz="3000" b="1" dirty="0">
                <a:solidFill>
                  <a:srgbClr val="27AE60"/>
                </a:solidFill>
              </a:rPr>
              <a:t>5 x 3</a:t>
            </a:r>
            <a:endParaRPr lang="en-US" sz="3000" dirty="0"/>
          </a:p>
        </p:txBody>
      </p:sp>
      <p:sp>
        <p:nvSpPr>
          <p:cNvPr id="12" name="Text 10"/>
          <p:cNvSpPr/>
          <p:nvPr/>
        </p:nvSpPr>
        <p:spPr>
          <a:xfrm>
            <a:off x="5989320" y="2331720"/>
            <a:ext cx="2606040" cy="640080"/>
          </a:xfrm>
          <a:prstGeom prst="rect">
            <a:avLst/>
          </a:prstGeom>
          <a:noFill/>
          <a:ln/>
        </p:spPr>
        <p:txBody>
          <a:bodyPr wrap="square" rtlCol="0" anchor="ctr"/>
          <a:lstStyle/>
          <a:p>
            <a:pPr algn="ctr" indent="0" marL="0">
              <a:buNone/>
            </a:pPr>
            <a:r>
              <a:rPr lang="en-US" sz="1200" dirty="0">
                <a:solidFill>
                  <a:srgbClr val="5A6B7A"/>
                </a:solidFill>
              </a:rPr>
              <a:t>marches x denrees</a:t>
            </a:r>
            <a:endParaRPr lang="en-US" sz="1200" dirty="0"/>
          </a:p>
          <a:p>
            <a:pPr algn="ctr" indent="0" marL="0">
              <a:buNone/>
            </a:pPr>
            <a:r>
              <a:rPr lang="en-US" sz="1200" dirty="0">
                <a:solidFill>
                  <a:srgbClr val="5A6B7A"/>
                </a:solidFill>
              </a:rPr>
              <a:t>= 15 series brutes</a:t>
            </a:r>
            <a:endParaRPr lang="en-US" sz="1200" dirty="0"/>
          </a:p>
        </p:txBody>
      </p:sp>
      <p:sp>
        <p:nvSpPr>
          <p:cNvPr id="13" name="Shape 11"/>
          <p:cNvSpPr/>
          <p:nvPr/>
        </p:nvSpPr>
        <p:spPr>
          <a:xfrm>
            <a:off x="8732520" y="1508760"/>
            <a:ext cx="2606040" cy="1554480"/>
          </a:xfrm>
          <a:prstGeom prst="roundRect">
            <a:avLst>
              <a:gd name="adj" fmla="val 4706"/>
            </a:avLst>
          </a:prstGeom>
          <a:solidFill>
            <a:srgbClr val="F7F9FB"/>
          </a:solidFill>
          <a:ln w="19050">
            <a:solidFill>
              <a:srgbClr val="1B3A5C"/>
            </a:solidFill>
            <a:prstDash val="solid"/>
          </a:ln>
        </p:spPr>
      </p:sp>
      <p:sp>
        <p:nvSpPr>
          <p:cNvPr id="14" name="Text 12"/>
          <p:cNvSpPr/>
          <p:nvPr/>
        </p:nvSpPr>
        <p:spPr>
          <a:xfrm>
            <a:off x="8732520" y="1691640"/>
            <a:ext cx="2606040" cy="640080"/>
          </a:xfrm>
          <a:prstGeom prst="rect">
            <a:avLst/>
          </a:prstGeom>
          <a:noFill/>
          <a:ln/>
        </p:spPr>
        <p:txBody>
          <a:bodyPr wrap="square" rtlCol="0" anchor="ctr"/>
          <a:lstStyle/>
          <a:p>
            <a:pPr algn="ctr" indent="0" marL="0">
              <a:buNone/>
            </a:pPr>
            <a:r>
              <a:rPr lang="en-US" sz="3000" b="1" dirty="0">
                <a:solidFill>
                  <a:srgbClr val="1B3A5C"/>
                </a:solidFill>
              </a:rPr>
              <a:t>3,9 %</a:t>
            </a:r>
            <a:endParaRPr lang="en-US" sz="3000" dirty="0"/>
          </a:p>
        </p:txBody>
      </p:sp>
      <p:sp>
        <p:nvSpPr>
          <p:cNvPr id="15" name="Text 13"/>
          <p:cNvSpPr/>
          <p:nvPr/>
        </p:nvSpPr>
        <p:spPr>
          <a:xfrm>
            <a:off x="8732520" y="2331720"/>
            <a:ext cx="2606040" cy="640080"/>
          </a:xfrm>
          <a:prstGeom prst="rect">
            <a:avLst/>
          </a:prstGeom>
          <a:noFill/>
          <a:ln/>
        </p:spPr>
        <p:txBody>
          <a:bodyPr wrap="square" rtlCol="0" anchor="ctr"/>
          <a:lstStyle/>
          <a:p>
            <a:pPr algn="ctr" indent="0" marL="0">
              <a:buNone/>
            </a:pPr>
            <a:r>
              <a:rPr lang="en-US" sz="1200" dirty="0">
                <a:solidFill>
                  <a:srgbClr val="5A6B7A"/>
                </a:solidFill>
              </a:rPr>
              <a:t>de valeurs</a:t>
            </a:r>
            <a:endParaRPr lang="en-US" sz="1200" dirty="0"/>
          </a:p>
          <a:p>
            <a:pPr algn="ctr" indent="0" marL="0">
              <a:buNone/>
            </a:pPr>
            <a:r>
              <a:rPr lang="en-US" sz="1200" dirty="0">
                <a:solidFill>
                  <a:srgbClr val="5A6B7A"/>
                </a:solidFill>
              </a:rPr>
              <a:t>manquantes</a:t>
            </a:r>
            <a:endParaRPr lang="en-US" sz="1200" dirty="0"/>
          </a:p>
        </p:txBody>
      </p:sp>
      <p:sp>
        <p:nvSpPr>
          <p:cNvPr id="16" name="Text 14"/>
          <p:cNvSpPr/>
          <p:nvPr/>
        </p:nvSpPr>
        <p:spPr>
          <a:xfrm>
            <a:off x="502920" y="3337560"/>
            <a:ext cx="4572000" cy="274320"/>
          </a:xfrm>
          <a:prstGeom prst="rect">
            <a:avLst/>
          </a:prstGeom>
          <a:noFill/>
          <a:ln/>
        </p:spPr>
        <p:txBody>
          <a:bodyPr wrap="square" rtlCol="0" anchor="ctr"/>
          <a:lstStyle/>
          <a:p>
            <a:pPr indent="0" marL="0">
              <a:buNone/>
            </a:pPr>
            <a:r>
              <a:rPr lang="en-US" sz="1200" b="1" spc="100" kern="0" dirty="0">
                <a:solidFill>
                  <a:srgbClr val="1B3A5C"/>
                </a:solidFill>
              </a:rPr>
              <a:t>SOURCE VISEE</a:t>
            </a:r>
            <a:endParaRPr lang="en-US" sz="1200" dirty="0"/>
          </a:p>
        </p:txBody>
      </p:sp>
      <p:sp>
        <p:nvSpPr>
          <p:cNvPr id="17" name="Text 15"/>
          <p:cNvSpPr/>
          <p:nvPr/>
        </p:nvSpPr>
        <p:spPr>
          <a:xfrm>
            <a:off x="502920" y="3657600"/>
            <a:ext cx="5577840" cy="2011680"/>
          </a:xfrm>
          <a:prstGeom prst="rect">
            <a:avLst/>
          </a:prstGeom>
          <a:noFill/>
          <a:ln/>
        </p:spPr>
        <p:txBody>
          <a:bodyPr wrap="square" rtlCol="0" anchor="ctr"/>
          <a:lstStyle/>
          <a:p>
            <a:pPr indent="0" marL="0">
              <a:lnSpc>
                <a:spcPts val="2000"/>
              </a:lnSpc>
              <a:buNone/>
            </a:pPr>
            <a:r>
              <a:rPr lang="en-US" sz="1300" dirty="0">
                <a:solidFill>
                  <a:srgbClr val="2A2A2A"/>
                </a:solidFill>
              </a:rPr>
              <a:t>Humanitarian Data Exchange / PAM Food Prices - donnees reelles disponibles pour la Guinee. Sans acces reseau dans cet environnement d'execution, les donnees ont ete generees de maniere synthetique en respectant les ordres de grandeur, la saisonnalite et les chocs macro-economiques reellement documentes (methode explicitement autorisee par le cadre du cours).</a:t>
            </a:r>
            <a:endParaRPr lang="en-US" sz="1300" dirty="0"/>
          </a:p>
        </p:txBody>
      </p:sp>
      <p:sp>
        <p:nvSpPr>
          <p:cNvPr id="18" name="Text 16"/>
          <p:cNvSpPr/>
          <p:nvPr/>
        </p:nvSpPr>
        <p:spPr>
          <a:xfrm>
            <a:off x="6400800" y="3337560"/>
            <a:ext cx="5212080" cy="274320"/>
          </a:xfrm>
          <a:prstGeom prst="rect">
            <a:avLst/>
          </a:prstGeom>
          <a:noFill/>
          <a:ln/>
        </p:spPr>
        <p:txBody>
          <a:bodyPr wrap="square" rtlCol="0" anchor="ctr"/>
          <a:lstStyle/>
          <a:p>
            <a:pPr indent="0" marL="0">
              <a:buNone/>
            </a:pPr>
            <a:r>
              <a:rPr lang="en-US" sz="1200" b="1" spc="100" kern="0" dirty="0">
                <a:solidFill>
                  <a:srgbClr val="1B3A5C"/>
                </a:solidFill>
              </a:rPr>
              <a:t>DICTIONNAIRE DES VARIABLES</a:t>
            </a:r>
            <a:endParaRPr lang="en-US" sz="1200" dirty="0"/>
          </a:p>
        </p:txBody>
      </p:sp>
      <p:sp>
        <p:nvSpPr>
          <p:cNvPr id="19" name="Shape 17"/>
          <p:cNvSpPr/>
          <p:nvPr/>
        </p:nvSpPr>
        <p:spPr>
          <a:xfrm>
            <a:off x="6400800" y="3703320"/>
            <a:ext cx="45720" cy="384048"/>
          </a:xfrm>
          <a:prstGeom prst="rect">
            <a:avLst/>
          </a:prstGeom>
          <a:solidFill>
            <a:srgbClr val="2E86AB"/>
          </a:solidFill>
          <a:ln/>
        </p:spPr>
      </p:sp>
      <p:sp>
        <p:nvSpPr>
          <p:cNvPr id="20" name="Text 18"/>
          <p:cNvSpPr/>
          <p:nvPr/>
        </p:nvSpPr>
        <p:spPr>
          <a:xfrm>
            <a:off x="6537960" y="3703320"/>
            <a:ext cx="1554480" cy="384048"/>
          </a:xfrm>
          <a:prstGeom prst="rect">
            <a:avLst/>
          </a:prstGeom>
          <a:noFill/>
          <a:ln/>
        </p:spPr>
        <p:txBody>
          <a:bodyPr wrap="square" rtlCol="0" anchor="ctr"/>
          <a:lstStyle/>
          <a:p>
            <a:pPr indent="0" marL="0">
              <a:buNone/>
            </a:pPr>
            <a:r>
              <a:rPr lang="en-US" sz="1200" b="1" dirty="0">
                <a:solidFill>
                  <a:srgbClr val="1B3A5C"/>
                </a:solidFill>
                <a:latin typeface="Courier New" pitchFamily="34" charset="0"/>
                <a:ea typeface="Courier New" pitchFamily="34" charset="-122"/>
                <a:cs typeface="Courier New" pitchFamily="34" charset="-120"/>
              </a:rPr>
              <a:t>date</a:t>
            </a:r>
            <a:endParaRPr lang="en-US" sz="1200" dirty="0"/>
          </a:p>
        </p:txBody>
      </p:sp>
      <p:sp>
        <p:nvSpPr>
          <p:cNvPr id="21" name="Text 19"/>
          <p:cNvSpPr/>
          <p:nvPr/>
        </p:nvSpPr>
        <p:spPr>
          <a:xfrm>
            <a:off x="8138160" y="3703320"/>
            <a:ext cx="3474720" cy="384048"/>
          </a:xfrm>
          <a:prstGeom prst="rect">
            <a:avLst/>
          </a:prstGeom>
          <a:noFill/>
          <a:ln/>
        </p:spPr>
        <p:txBody>
          <a:bodyPr wrap="square" rtlCol="0" anchor="ctr"/>
          <a:lstStyle/>
          <a:p>
            <a:pPr indent="0" marL="0">
              <a:buNone/>
            </a:pPr>
            <a:r>
              <a:rPr lang="en-US" sz="1200" dirty="0">
                <a:solidFill>
                  <a:srgbClr val="5A6B7A"/>
                </a:solidFill>
              </a:rPr>
              <a:t>Semaine d'observation</a:t>
            </a:r>
            <a:endParaRPr lang="en-US" sz="1200" dirty="0"/>
          </a:p>
        </p:txBody>
      </p:sp>
      <p:sp>
        <p:nvSpPr>
          <p:cNvPr id="22" name="Shape 20"/>
          <p:cNvSpPr/>
          <p:nvPr/>
        </p:nvSpPr>
        <p:spPr>
          <a:xfrm>
            <a:off x="6400800" y="4160520"/>
            <a:ext cx="45720" cy="384048"/>
          </a:xfrm>
          <a:prstGeom prst="rect">
            <a:avLst/>
          </a:prstGeom>
          <a:solidFill>
            <a:srgbClr val="2E86AB"/>
          </a:solidFill>
          <a:ln/>
        </p:spPr>
      </p:sp>
      <p:sp>
        <p:nvSpPr>
          <p:cNvPr id="23" name="Text 21"/>
          <p:cNvSpPr/>
          <p:nvPr/>
        </p:nvSpPr>
        <p:spPr>
          <a:xfrm>
            <a:off x="6537960" y="4160520"/>
            <a:ext cx="1554480" cy="384048"/>
          </a:xfrm>
          <a:prstGeom prst="rect">
            <a:avLst/>
          </a:prstGeom>
          <a:noFill/>
          <a:ln/>
        </p:spPr>
        <p:txBody>
          <a:bodyPr wrap="square" rtlCol="0" anchor="ctr"/>
          <a:lstStyle/>
          <a:p>
            <a:pPr indent="0" marL="0">
              <a:buNone/>
            </a:pPr>
            <a:r>
              <a:rPr lang="en-US" sz="1200" b="1" dirty="0">
                <a:solidFill>
                  <a:srgbClr val="1B3A5C"/>
                </a:solidFill>
                <a:latin typeface="Courier New" pitchFamily="34" charset="0"/>
                <a:ea typeface="Courier New" pitchFamily="34" charset="-122"/>
                <a:cs typeface="Courier New" pitchFamily="34" charset="-120"/>
              </a:rPr>
              <a:t>marche</a:t>
            </a:r>
            <a:endParaRPr lang="en-US" sz="1200" dirty="0"/>
          </a:p>
        </p:txBody>
      </p:sp>
      <p:sp>
        <p:nvSpPr>
          <p:cNvPr id="24" name="Text 22"/>
          <p:cNvSpPr/>
          <p:nvPr/>
        </p:nvSpPr>
        <p:spPr>
          <a:xfrm>
            <a:off x="8138160" y="4160520"/>
            <a:ext cx="3474720" cy="384048"/>
          </a:xfrm>
          <a:prstGeom prst="rect">
            <a:avLst/>
          </a:prstGeom>
          <a:noFill/>
          <a:ln/>
        </p:spPr>
        <p:txBody>
          <a:bodyPr wrap="square" rtlCol="0" anchor="ctr"/>
          <a:lstStyle/>
          <a:p>
            <a:pPr indent="0" marL="0">
              <a:buNone/>
            </a:pPr>
            <a:r>
              <a:rPr lang="en-US" sz="1200" dirty="0">
                <a:solidFill>
                  <a:srgbClr val="5A6B7A"/>
                </a:solidFill>
              </a:rPr>
              <a:t>5 modalites</a:t>
            </a:r>
            <a:endParaRPr lang="en-US" sz="1200" dirty="0"/>
          </a:p>
        </p:txBody>
      </p:sp>
      <p:sp>
        <p:nvSpPr>
          <p:cNvPr id="25" name="Shape 23"/>
          <p:cNvSpPr/>
          <p:nvPr/>
        </p:nvSpPr>
        <p:spPr>
          <a:xfrm>
            <a:off x="6400800" y="4617720"/>
            <a:ext cx="45720" cy="384048"/>
          </a:xfrm>
          <a:prstGeom prst="rect">
            <a:avLst/>
          </a:prstGeom>
          <a:solidFill>
            <a:srgbClr val="2E86AB"/>
          </a:solidFill>
          <a:ln/>
        </p:spPr>
      </p:sp>
      <p:sp>
        <p:nvSpPr>
          <p:cNvPr id="26" name="Text 24"/>
          <p:cNvSpPr/>
          <p:nvPr/>
        </p:nvSpPr>
        <p:spPr>
          <a:xfrm>
            <a:off x="6537960" y="4617720"/>
            <a:ext cx="1554480" cy="384048"/>
          </a:xfrm>
          <a:prstGeom prst="rect">
            <a:avLst/>
          </a:prstGeom>
          <a:noFill/>
          <a:ln/>
        </p:spPr>
        <p:txBody>
          <a:bodyPr wrap="square" rtlCol="0" anchor="ctr"/>
          <a:lstStyle/>
          <a:p>
            <a:pPr indent="0" marL="0">
              <a:buNone/>
            </a:pPr>
            <a:r>
              <a:rPr lang="en-US" sz="1200" b="1" dirty="0">
                <a:solidFill>
                  <a:srgbClr val="1B3A5C"/>
                </a:solidFill>
                <a:latin typeface="Courier New" pitchFamily="34" charset="0"/>
                <a:ea typeface="Courier New" pitchFamily="34" charset="-122"/>
                <a:cs typeface="Courier New" pitchFamily="34" charset="-120"/>
              </a:rPr>
              <a:t>denree</a:t>
            </a:r>
            <a:endParaRPr lang="en-US" sz="1200" dirty="0"/>
          </a:p>
        </p:txBody>
      </p:sp>
      <p:sp>
        <p:nvSpPr>
          <p:cNvPr id="27" name="Text 25"/>
          <p:cNvSpPr/>
          <p:nvPr/>
        </p:nvSpPr>
        <p:spPr>
          <a:xfrm>
            <a:off x="8138160" y="4617720"/>
            <a:ext cx="3474720" cy="384048"/>
          </a:xfrm>
          <a:prstGeom prst="rect">
            <a:avLst/>
          </a:prstGeom>
          <a:noFill/>
          <a:ln/>
        </p:spPr>
        <p:txBody>
          <a:bodyPr wrap="square" rtlCol="0" anchor="ctr"/>
          <a:lstStyle/>
          <a:p>
            <a:pPr indent="0" marL="0">
              <a:buNone/>
            </a:pPr>
            <a:r>
              <a:rPr lang="en-US" sz="1200" dirty="0">
                <a:solidFill>
                  <a:srgbClr val="5A6B7A"/>
                </a:solidFill>
              </a:rPr>
              <a:t>riz / huile / sucre</a:t>
            </a:r>
            <a:endParaRPr lang="en-US" sz="1200" dirty="0"/>
          </a:p>
        </p:txBody>
      </p:sp>
      <p:sp>
        <p:nvSpPr>
          <p:cNvPr id="28" name="Shape 26"/>
          <p:cNvSpPr/>
          <p:nvPr/>
        </p:nvSpPr>
        <p:spPr>
          <a:xfrm>
            <a:off x="6400800" y="5074920"/>
            <a:ext cx="45720" cy="384048"/>
          </a:xfrm>
          <a:prstGeom prst="rect">
            <a:avLst/>
          </a:prstGeom>
          <a:solidFill>
            <a:srgbClr val="2E86AB"/>
          </a:solidFill>
          <a:ln/>
        </p:spPr>
      </p:sp>
      <p:sp>
        <p:nvSpPr>
          <p:cNvPr id="29" name="Text 27"/>
          <p:cNvSpPr/>
          <p:nvPr/>
        </p:nvSpPr>
        <p:spPr>
          <a:xfrm>
            <a:off x="6537960" y="5074920"/>
            <a:ext cx="1554480" cy="384048"/>
          </a:xfrm>
          <a:prstGeom prst="rect">
            <a:avLst/>
          </a:prstGeom>
          <a:noFill/>
          <a:ln/>
        </p:spPr>
        <p:txBody>
          <a:bodyPr wrap="square" rtlCol="0" anchor="ctr"/>
          <a:lstStyle/>
          <a:p>
            <a:pPr indent="0" marL="0">
              <a:buNone/>
            </a:pPr>
            <a:r>
              <a:rPr lang="en-US" sz="1200" b="1" dirty="0">
                <a:solidFill>
                  <a:srgbClr val="1B3A5C"/>
                </a:solidFill>
                <a:latin typeface="Courier New" pitchFamily="34" charset="0"/>
                <a:ea typeface="Courier New" pitchFamily="34" charset="-122"/>
                <a:cs typeface="Courier New" pitchFamily="34" charset="-120"/>
              </a:rPr>
              <a:t>prix_gnf</a:t>
            </a:r>
            <a:endParaRPr lang="en-US" sz="1200" dirty="0"/>
          </a:p>
        </p:txBody>
      </p:sp>
      <p:sp>
        <p:nvSpPr>
          <p:cNvPr id="30" name="Text 28"/>
          <p:cNvSpPr/>
          <p:nvPr/>
        </p:nvSpPr>
        <p:spPr>
          <a:xfrm>
            <a:off x="8138160" y="5074920"/>
            <a:ext cx="3474720" cy="384048"/>
          </a:xfrm>
          <a:prstGeom prst="rect">
            <a:avLst/>
          </a:prstGeom>
          <a:noFill/>
          <a:ln/>
        </p:spPr>
        <p:txBody>
          <a:bodyPr wrap="square" rtlCol="0" anchor="ctr"/>
          <a:lstStyle/>
          <a:p>
            <a:pPr indent="0" marL="0">
              <a:buNone/>
            </a:pPr>
            <a:r>
              <a:rPr lang="en-US" sz="1200" dirty="0">
                <a:solidFill>
                  <a:srgbClr val="5A6B7A"/>
                </a:solidFill>
              </a:rPr>
              <a:t>Prix en francs guineens</a:t>
            </a:r>
            <a:endParaRPr lang="en-US" sz="1200" dirty="0"/>
          </a:p>
        </p:txBody>
      </p:sp>
      <p:sp>
        <p:nvSpPr>
          <p:cNvPr id="31" name="Text 29"/>
          <p:cNvSpPr/>
          <p:nvPr/>
        </p:nvSpPr>
        <p:spPr>
          <a:xfrm>
            <a:off x="502920" y="6400800"/>
            <a:ext cx="5486400" cy="274320"/>
          </a:xfrm>
          <a:prstGeom prst="rect">
            <a:avLst/>
          </a:prstGeom>
          <a:noFill/>
          <a:ln/>
        </p:spPr>
        <p:txBody>
          <a:bodyPr wrap="square" rtlCol="0" anchor="ctr"/>
          <a:lstStyle/>
          <a:p>
            <a:pPr indent="0" marL="0">
              <a:buNone/>
            </a:pPr>
            <a:r>
              <a:rPr lang="en-US" sz="1000" dirty="0">
                <a:solidFill>
                  <a:srgbClr val="5A6B7A"/>
                </a:solidFill>
              </a:rPr>
              <a:t>Fouille de Donnees M1  -  Projet P19</a:t>
            </a:r>
            <a:endParaRPr lang="en-US" sz="1000" dirty="0"/>
          </a:p>
        </p:txBody>
      </p:sp>
      <p:sp>
        <p:nvSpPr>
          <p:cNvPr id="32" name="Text 30"/>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6B7A"/>
                </a:solidFill>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09728"/>
            <a:ext cx="11183112" cy="292608"/>
          </a:xfrm>
          <a:prstGeom prst="rect">
            <a:avLst/>
          </a:prstGeom>
          <a:noFill/>
          <a:ln/>
        </p:spPr>
        <p:txBody>
          <a:bodyPr wrap="square" rtlCol="0" anchor="ctr"/>
          <a:lstStyle/>
          <a:p>
            <a:pPr indent="0" marL="0">
              <a:buNone/>
            </a:pPr>
            <a:r>
              <a:rPr lang="en-US" sz="1200" b="1" spc="200" kern="0" dirty="0">
                <a:solidFill>
                  <a:srgbClr val="2E86AB"/>
                </a:solidFill>
                <a:latin typeface="Calibri" pitchFamily="34" charset="0"/>
                <a:ea typeface="Calibri" pitchFamily="34" charset="-122"/>
                <a:cs typeface="Calibri" pitchFamily="34" charset="-120"/>
              </a:rPr>
              <a:t>2. COMPREHENSION DES DONNEES</a:t>
            </a:r>
            <a:endParaRPr lang="en-US" sz="1200" dirty="0"/>
          </a:p>
        </p:txBody>
      </p:sp>
      <p:sp>
        <p:nvSpPr>
          <p:cNvPr id="3" name="Text 1"/>
          <p:cNvSpPr/>
          <p:nvPr/>
        </p:nvSpPr>
        <p:spPr>
          <a:xfrm>
            <a:off x="502920" y="365760"/>
            <a:ext cx="11183112" cy="82296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Qualite des donnees : valeurs manquantes et doublons</a:t>
            </a:r>
            <a:endParaRPr lang="en-US" sz="3000" dirty="0"/>
          </a:p>
        </p:txBody>
      </p:sp>
      <p:pic>
        <p:nvPicPr>
          <p:cNvPr id="4" name="Image 0" descr="/home/claude/p19/figures/valeurs_manquantes.png">    </p:cNvPr>
          <p:cNvPicPr>
            <a:picLocks noChangeAspect="1"/>
          </p:cNvPicPr>
          <p:nvPr/>
        </p:nvPicPr>
        <p:blipFill>
          <a:blip r:embed="rId1"/>
          <a:stretch>
            <a:fillRect/>
          </a:stretch>
        </p:blipFill>
        <p:spPr>
          <a:xfrm>
            <a:off x="502920" y="1463040"/>
            <a:ext cx="6949440" cy="3246120"/>
          </a:xfrm>
          <a:prstGeom prst="rect">
            <a:avLst/>
          </a:prstGeom>
        </p:spPr>
      </p:pic>
      <p:sp>
        <p:nvSpPr>
          <p:cNvPr id="5" name="Shape 2"/>
          <p:cNvSpPr/>
          <p:nvPr/>
        </p:nvSpPr>
        <p:spPr>
          <a:xfrm>
            <a:off x="7680960" y="1463040"/>
            <a:ext cx="3977640" cy="4572000"/>
          </a:xfrm>
          <a:prstGeom prst="roundRect">
            <a:avLst>
              <a:gd name="adj" fmla="val 1839"/>
            </a:avLst>
          </a:prstGeom>
          <a:solidFill>
            <a:srgbClr val="EAF1F6"/>
          </a:solidFill>
          <a:ln/>
        </p:spPr>
      </p:sp>
      <p:sp>
        <p:nvSpPr>
          <p:cNvPr id="6" name="Text 3"/>
          <p:cNvSpPr/>
          <p:nvPr/>
        </p:nvSpPr>
        <p:spPr>
          <a:xfrm>
            <a:off x="7955280" y="1691640"/>
            <a:ext cx="3474720" cy="274320"/>
          </a:xfrm>
          <a:prstGeom prst="rect">
            <a:avLst/>
          </a:prstGeom>
          <a:noFill/>
          <a:ln/>
        </p:spPr>
        <p:txBody>
          <a:bodyPr wrap="square" rtlCol="0" anchor="ctr"/>
          <a:lstStyle/>
          <a:p>
            <a:pPr indent="0" marL="0">
              <a:buNone/>
            </a:pPr>
            <a:r>
              <a:rPr lang="en-US" sz="1200" b="1" spc="100" kern="0" dirty="0">
                <a:solidFill>
                  <a:srgbClr val="1B3A5C"/>
                </a:solidFill>
              </a:rPr>
              <a:t>CONSTATS</a:t>
            </a:r>
            <a:endParaRPr lang="en-US" sz="1200" dirty="0"/>
          </a:p>
        </p:txBody>
      </p:sp>
      <p:sp>
        <p:nvSpPr>
          <p:cNvPr id="7" name="Text 4"/>
          <p:cNvSpPr/>
          <p:nvPr/>
        </p:nvSpPr>
        <p:spPr>
          <a:xfrm>
            <a:off x="7955280" y="2103120"/>
            <a:ext cx="3474720" cy="822960"/>
          </a:xfrm>
          <a:prstGeom prst="rect">
            <a:avLst/>
          </a:prstGeom>
          <a:noFill/>
          <a:ln/>
        </p:spPr>
        <p:txBody>
          <a:bodyPr wrap="square" rtlCol="0" anchor="t"/>
          <a:lstStyle/>
          <a:p>
            <a:pPr marL="342900" indent="-342900">
              <a:lnSpc>
                <a:spcPts val="1800"/>
              </a:lnSpc>
              <a:buSzPct val="100000"/>
              <a:buChar char="•"/>
            </a:pPr>
            <a:r>
              <a:rPr lang="en-US" sz="1300" dirty="0">
                <a:solidFill>
                  <a:srgbClr val="2A2A2A"/>
                </a:solidFill>
              </a:rPr>
              <a:t>184 valeurs manquantes (3,9 %)</a:t>
            </a:r>
            <a:endParaRPr lang="en-US" sz="1300" dirty="0"/>
          </a:p>
        </p:txBody>
      </p:sp>
      <p:sp>
        <p:nvSpPr>
          <p:cNvPr id="8" name="Text 5"/>
          <p:cNvSpPr/>
          <p:nvPr/>
        </p:nvSpPr>
        <p:spPr>
          <a:xfrm>
            <a:off x="7955280" y="2816352"/>
            <a:ext cx="3474720" cy="822960"/>
          </a:xfrm>
          <a:prstGeom prst="rect">
            <a:avLst/>
          </a:prstGeom>
          <a:noFill/>
          <a:ln/>
        </p:spPr>
        <p:txBody>
          <a:bodyPr wrap="square" rtlCol="0" anchor="t"/>
          <a:lstStyle/>
          <a:p>
            <a:pPr marL="342900" indent="-342900">
              <a:lnSpc>
                <a:spcPts val="1800"/>
              </a:lnSpc>
              <a:buSzPct val="100000"/>
              <a:buChar char="•"/>
            </a:pPr>
            <a:r>
              <a:rPr lang="en-US" sz="1300" dirty="0">
                <a:solidFill>
                  <a:srgbClr val="2A2A2A"/>
                </a:solidFill>
              </a:rPr>
              <a:t>Plus frequentes dans les marches eloignes (Labe, Nzerekore) - reflet de difficultes reelles de collecte</a:t>
            </a:r>
            <a:endParaRPr lang="en-US" sz="1300" dirty="0"/>
          </a:p>
        </p:txBody>
      </p:sp>
      <p:sp>
        <p:nvSpPr>
          <p:cNvPr id="9" name="Text 6"/>
          <p:cNvSpPr/>
          <p:nvPr/>
        </p:nvSpPr>
        <p:spPr>
          <a:xfrm>
            <a:off x="7955280" y="3529584"/>
            <a:ext cx="3474720" cy="822960"/>
          </a:xfrm>
          <a:prstGeom prst="rect">
            <a:avLst/>
          </a:prstGeom>
          <a:noFill/>
          <a:ln/>
        </p:spPr>
        <p:txBody>
          <a:bodyPr wrap="square" rtlCol="0" anchor="t"/>
          <a:lstStyle/>
          <a:p>
            <a:pPr marL="342900" indent="-342900">
              <a:lnSpc>
                <a:spcPts val="1800"/>
              </a:lnSpc>
              <a:buSzPct val="100000"/>
              <a:buChar char="•"/>
            </a:pPr>
            <a:r>
              <a:rPr lang="en-US" sz="1300" dirty="0">
                <a:solidFill>
                  <a:srgbClr val="2A2A2A"/>
                </a:solidFill>
              </a:rPr>
              <a:t>47 doublons de saisie identifies</a:t>
            </a:r>
            <a:endParaRPr lang="en-US" sz="1300" dirty="0"/>
          </a:p>
        </p:txBody>
      </p:sp>
      <p:sp>
        <p:nvSpPr>
          <p:cNvPr id="10" name="Text 7"/>
          <p:cNvSpPr/>
          <p:nvPr/>
        </p:nvSpPr>
        <p:spPr>
          <a:xfrm>
            <a:off x="7955280" y="4242816"/>
            <a:ext cx="3474720" cy="822960"/>
          </a:xfrm>
          <a:prstGeom prst="rect">
            <a:avLst/>
          </a:prstGeom>
          <a:noFill/>
          <a:ln/>
        </p:spPr>
        <p:txBody>
          <a:bodyPr wrap="square" rtlCol="0" anchor="t"/>
          <a:lstStyle/>
          <a:p>
            <a:pPr marL="342900" indent="-342900">
              <a:lnSpc>
                <a:spcPts val="1800"/>
              </a:lnSpc>
              <a:buSzPct val="100000"/>
              <a:buChar char="•"/>
            </a:pPr>
            <a:r>
              <a:rPr lang="en-US" sz="1300" dirty="0">
                <a:solidFill>
                  <a:srgbClr val="2A2A2A"/>
                </a:solidFill>
              </a:rPr>
              <a:t>Imputation par interpolation lineaire temporelle + forward/backward-fill aux bords</a:t>
            </a:r>
            <a:endParaRPr lang="en-US" sz="1300" dirty="0"/>
          </a:p>
        </p:txBody>
      </p:sp>
      <p:sp>
        <p:nvSpPr>
          <p:cNvPr id="11" name="Text 8"/>
          <p:cNvSpPr/>
          <p:nvPr/>
        </p:nvSpPr>
        <p:spPr>
          <a:xfrm>
            <a:off x="502920" y="6400800"/>
            <a:ext cx="5486400" cy="274320"/>
          </a:xfrm>
          <a:prstGeom prst="rect">
            <a:avLst/>
          </a:prstGeom>
          <a:noFill/>
          <a:ln/>
        </p:spPr>
        <p:txBody>
          <a:bodyPr wrap="square" rtlCol="0" anchor="ctr"/>
          <a:lstStyle/>
          <a:p>
            <a:pPr indent="0" marL="0">
              <a:buNone/>
            </a:pPr>
            <a:r>
              <a:rPr lang="en-US" sz="1000" dirty="0">
                <a:solidFill>
                  <a:srgbClr val="5A6B7A"/>
                </a:solidFill>
              </a:rPr>
              <a:t>Fouille de Donnees M1  -  Projet P19</a:t>
            </a:r>
            <a:endParaRPr lang="en-US" sz="1000" dirty="0"/>
          </a:p>
        </p:txBody>
      </p:sp>
      <p:sp>
        <p:nvSpPr>
          <p:cNvPr id="12" name="Text 9"/>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6B7A"/>
                </a:solidFill>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09728"/>
            <a:ext cx="11183112" cy="292608"/>
          </a:xfrm>
          <a:prstGeom prst="rect">
            <a:avLst/>
          </a:prstGeom>
          <a:noFill/>
          <a:ln/>
        </p:spPr>
        <p:txBody>
          <a:bodyPr wrap="square" rtlCol="0" anchor="ctr"/>
          <a:lstStyle/>
          <a:p>
            <a:pPr indent="0" marL="0">
              <a:buNone/>
            </a:pPr>
            <a:r>
              <a:rPr lang="en-US" sz="1200" b="1" spc="200" kern="0" dirty="0">
                <a:solidFill>
                  <a:srgbClr val="2E86AB"/>
                </a:solidFill>
                <a:latin typeface="Calibri" pitchFamily="34" charset="0"/>
                <a:ea typeface="Calibri" pitchFamily="34" charset="-122"/>
                <a:cs typeface="Calibri" pitchFamily="34" charset="-120"/>
              </a:rPr>
              <a:t>2. COMPREHENSION DES DONNEES</a:t>
            </a:r>
            <a:endParaRPr lang="en-US" sz="1200" dirty="0"/>
          </a:p>
        </p:txBody>
      </p:sp>
      <p:sp>
        <p:nvSpPr>
          <p:cNvPr id="3" name="Text 1"/>
          <p:cNvSpPr/>
          <p:nvPr/>
        </p:nvSpPr>
        <p:spPr>
          <a:xfrm>
            <a:off x="502920" y="365760"/>
            <a:ext cx="11183112" cy="82296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Trois chocs macro-economiques majeurs</a:t>
            </a:r>
            <a:endParaRPr lang="en-US" sz="3000" dirty="0"/>
          </a:p>
        </p:txBody>
      </p:sp>
      <p:pic>
        <p:nvPicPr>
          <p:cNvPr id="4" name="Image 0" descr="/home/claude/p19/figures/series_nationales.png">    </p:cNvPr>
          <p:cNvPicPr>
            <a:picLocks noChangeAspect="1"/>
          </p:cNvPicPr>
          <p:nvPr/>
        </p:nvPicPr>
        <p:blipFill>
          <a:blip r:embed="rId1"/>
          <a:stretch>
            <a:fillRect/>
          </a:stretch>
        </p:blipFill>
        <p:spPr>
          <a:xfrm>
            <a:off x="685800" y="1417320"/>
            <a:ext cx="10789920" cy="4846320"/>
          </a:xfrm>
          <a:prstGeom prst="rect">
            <a:avLst/>
          </a:prstGeom>
        </p:spPr>
      </p:pic>
      <p:sp>
        <p:nvSpPr>
          <p:cNvPr id="5" name="Text 2"/>
          <p:cNvSpPr/>
          <p:nvPr/>
        </p:nvSpPr>
        <p:spPr>
          <a:xfrm>
            <a:off x="502920" y="6400800"/>
            <a:ext cx="5486400" cy="274320"/>
          </a:xfrm>
          <a:prstGeom prst="rect">
            <a:avLst/>
          </a:prstGeom>
          <a:noFill/>
          <a:ln/>
        </p:spPr>
        <p:txBody>
          <a:bodyPr wrap="square" rtlCol="0" anchor="ctr"/>
          <a:lstStyle/>
          <a:p>
            <a:pPr indent="0" marL="0">
              <a:buNone/>
            </a:pPr>
            <a:r>
              <a:rPr lang="en-US" sz="1000" dirty="0">
                <a:solidFill>
                  <a:srgbClr val="5A6B7A"/>
                </a:solidFill>
              </a:rPr>
              <a:t>Fouille de Donnees M1  -  Projet P19</a:t>
            </a:r>
            <a:endParaRPr lang="en-US" sz="1000" dirty="0"/>
          </a:p>
        </p:txBody>
      </p:sp>
      <p:sp>
        <p:nvSpPr>
          <p:cNvPr id="6" name="Text 3"/>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6B7A"/>
                </a:solidFill>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09728"/>
            <a:ext cx="11183112" cy="292608"/>
          </a:xfrm>
          <a:prstGeom prst="rect">
            <a:avLst/>
          </a:prstGeom>
          <a:noFill/>
          <a:ln/>
        </p:spPr>
        <p:txBody>
          <a:bodyPr wrap="square" rtlCol="0" anchor="ctr"/>
          <a:lstStyle/>
          <a:p>
            <a:pPr indent="0" marL="0">
              <a:buNone/>
            </a:pPr>
            <a:r>
              <a:rPr lang="en-US" sz="1200" b="1" spc="200" kern="0" dirty="0">
                <a:solidFill>
                  <a:srgbClr val="2E86AB"/>
                </a:solidFill>
                <a:latin typeface="Calibri" pitchFamily="34" charset="0"/>
                <a:ea typeface="Calibri" pitchFamily="34" charset="-122"/>
                <a:cs typeface="Calibri" pitchFamily="34" charset="-120"/>
              </a:rPr>
              <a:t>2. COMPREHENSION DES DONNEES</a:t>
            </a:r>
            <a:endParaRPr lang="en-US" sz="1200" dirty="0"/>
          </a:p>
        </p:txBody>
      </p:sp>
      <p:sp>
        <p:nvSpPr>
          <p:cNvPr id="3" name="Text 1"/>
          <p:cNvSpPr/>
          <p:nvPr/>
        </p:nvSpPr>
        <p:spPr>
          <a:xfrm>
            <a:off x="502920" y="365760"/>
            <a:ext cx="11183112" cy="82296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Une forte correlation entre les trois denrees</a:t>
            </a:r>
            <a:endParaRPr lang="en-US" sz="3000" dirty="0"/>
          </a:p>
        </p:txBody>
      </p:sp>
      <p:pic>
        <p:nvPicPr>
          <p:cNvPr id="4" name="Image 0" descr="/home/claude/p19/figures/correlation.png">    </p:cNvPr>
          <p:cNvPicPr>
            <a:picLocks noChangeAspect="1"/>
          </p:cNvPicPr>
          <p:nvPr/>
        </p:nvPicPr>
        <p:blipFill>
          <a:blip r:embed="rId1"/>
          <a:stretch>
            <a:fillRect/>
          </a:stretch>
        </p:blipFill>
        <p:spPr>
          <a:xfrm>
            <a:off x="731520" y="1417320"/>
            <a:ext cx="4206240" cy="3840480"/>
          </a:xfrm>
          <a:prstGeom prst="rect">
            <a:avLst/>
          </a:prstGeom>
        </p:spPr>
      </p:pic>
      <p:sp>
        <p:nvSpPr>
          <p:cNvPr id="5" name="Shape 2"/>
          <p:cNvSpPr/>
          <p:nvPr/>
        </p:nvSpPr>
        <p:spPr>
          <a:xfrm>
            <a:off x="5394960" y="1645920"/>
            <a:ext cx="6263640" cy="3383280"/>
          </a:xfrm>
          <a:prstGeom prst="roundRect">
            <a:avLst>
              <a:gd name="adj" fmla="val 2162"/>
            </a:avLst>
          </a:prstGeom>
          <a:solidFill>
            <a:srgbClr val="F7F9FB"/>
          </a:solidFill>
          <a:ln/>
        </p:spPr>
      </p:sp>
      <p:sp>
        <p:nvSpPr>
          <p:cNvPr id="6" name="Text 3"/>
          <p:cNvSpPr/>
          <p:nvPr/>
        </p:nvSpPr>
        <p:spPr>
          <a:xfrm>
            <a:off x="5715000" y="1920240"/>
            <a:ext cx="5486400" cy="640080"/>
          </a:xfrm>
          <a:prstGeom prst="rect">
            <a:avLst/>
          </a:prstGeom>
          <a:noFill/>
          <a:ln/>
        </p:spPr>
        <p:txBody>
          <a:bodyPr wrap="square" rtlCol="0" anchor="ctr"/>
          <a:lstStyle/>
          <a:p>
            <a:pPr indent="0" marL="0">
              <a:buNone/>
            </a:pPr>
            <a:r>
              <a:rPr lang="en-US" sz="3000" b="1" dirty="0">
                <a:solidFill>
                  <a:srgbClr val="2E86AB"/>
                </a:solidFill>
              </a:rPr>
              <a:t>0,95 a 0,98</a:t>
            </a:r>
            <a:endParaRPr lang="en-US" sz="3000" dirty="0"/>
          </a:p>
        </p:txBody>
      </p:sp>
      <p:sp>
        <p:nvSpPr>
          <p:cNvPr id="7" name="Text 4"/>
          <p:cNvSpPr/>
          <p:nvPr/>
        </p:nvSpPr>
        <p:spPr>
          <a:xfrm>
            <a:off x="5715000" y="2514600"/>
            <a:ext cx="5486400" cy="365760"/>
          </a:xfrm>
          <a:prstGeom prst="rect">
            <a:avLst/>
          </a:prstGeom>
          <a:noFill/>
          <a:ln/>
        </p:spPr>
        <p:txBody>
          <a:bodyPr wrap="square" rtlCol="0" anchor="ctr"/>
          <a:lstStyle/>
          <a:p>
            <a:pPr indent="0" marL="0">
              <a:buNone/>
            </a:pPr>
            <a:r>
              <a:rPr lang="en-US" sz="1400" dirty="0">
                <a:solidFill>
                  <a:srgbClr val="5A6B7A"/>
                </a:solidFill>
              </a:rPr>
              <a:t>de correlation entre riz, huile et sucre</a:t>
            </a:r>
            <a:endParaRPr lang="en-US" sz="1400" dirty="0"/>
          </a:p>
        </p:txBody>
      </p:sp>
      <p:sp>
        <p:nvSpPr>
          <p:cNvPr id="8" name="Text 5"/>
          <p:cNvSpPr/>
          <p:nvPr/>
        </p:nvSpPr>
        <p:spPr>
          <a:xfrm>
            <a:off x="5715000" y="3063240"/>
            <a:ext cx="5623560" cy="1005840"/>
          </a:xfrm>
          <a:prstGeom prst="rect">
            <a:avLst/>
          </a:prstGeom>
          <a:noFill/>
          <a:ln/>
        </p:spPr>
        <p:txBody>
          <a:bodyPr wrap="square" rtlCol="0" anchor="ctr"/>
          <a:lstStyle/>
          <a:p>
            <a:pPr indent="0" marL="0">
              <a:lnSpc>
                <a:spcPts val="1900"/>
              </a:lnSpc>
              <a:buNone/>
            </a:pPr>
            <a:r>
              <a:rPr lang="en-US" sz="1300" dirty="0">
                <a:solidFill>
                  <a:srgbClr val="2A2A2A"/>
                </a:solidFill>
              </a:rPr>
              <a:t>Les trois denrees sont largement importees en Guinee : elles partagent la meme exposition a l'inflation generale et aux chocs d'importation (COVID-19, guerre en Ukraine, prix du carburant).</a:t>
            </a:r>
            <a:endParaRPr lang="en-US" sz="1300" dirty="0"/>
          </a:p>
        </p:txBody>
      </p:sp>
      <p:sp>
        <p:nvSpPr>
          <p:cNvPr id="9" name="Shape 6"/>
          <p:cNvSpPr/>
          <p:nvPr/>
        </p:nvSpPr>
        <p:spPr>
          <a:xfrm>
            <a:off x="5715000" y="4160520"/>
            <a:ext cx="5623560" cy="0"/>
          </a:xfrm>
          <a:prstGeom prst="line">
            <a:avLst/>
          </a:prstGeom>
          <a:noFill/>
          <a:ln w="12700">
            <a:solidFill>
              <a:srgbClr val="2E86AB"/>
            </a:solidFill>
            <a:prstDash val="solid"/>
          </a:ln>
        </p:spPr>
      </p:sp>
      <p:sp>
        <p:nvSpPr>
          <p:cNvPr id="10" name="Text 7"/>
          <p:cNvSpPr/>
          <p:nvPr/>
        </p:nvSpPr>
        <p:spPr>
          <a:xfrm>
            <a:off x="5715000" y="4343400"/>
            <a:ext cx="5623560" cy="548640"/>
          </a:xfrm>
          <a:prstGeom prst="rect">
            <a:avLst/>
          </a:prstGeom>
          <a:noFill/>
          <a:ln/>
        </p:spPr>
        <p:txBody>
          <a:bodyPr wrap="square" rtlCol="0" anchor="ctr"/>
          <a:lstStyle/>
          <a:p>
            <a:pPr indent="0" marL="0">
              <a:lnSpc>
                <a:spcPts val="1800"/>
              </a:lnSpc>
              <a:buNone/>
            </a:pPr>
            <a:r>
              <a:rPr lang="en-US" sz="1300" b="1" i="1" dirty="0">
                <a:solidFill>
                  <a:srgbClr val="1B3A5C"/>
                </a:solidFill>
              </a:rPr>
              <a:t>Implication : un choc detecte sur une denree devrait declencher une vigilance renforcee sur les deux autres.</a:t>
            </a:r>
            <a:endParaRPr lang="en-US" sz="1300" dirty="0"/>
          </a:p>
        </p:txBody>
      </p:sp>
      <p:sp>
        <p:nvSpPr>
          <p:cNvPr id="11" name="Text 8"/>
          <p:cNvSpPr/>
          <p:nvPr/>
        </p:nvSpPr>
        <p:spPr>
          <a:xfrm>
            <a:off x="502920" y="6400800"/>
            <a:ext cx="5486400" cy="274320"/>
          </a:xfrm>
          <a:prstGeom prst="rect">
            <a:avLst/>
          </a:prstGeom>
          <a:noFill/>
          <a:ln/>
        </p:spPr>
        <p:txBody>
          <a:bodyPr wrap="square" rtlCol="0" anchor="ctr"/>
          <a:lstStyle/>
          <a:p>
            <a:pPr indent="0" marL="0">
              <a:buNone/>
            </a:pPr>
            <a:r>
              <a:rPr lang="en-US" sz="1000" dirty="0">
                <a:solidFill>
                  <a:srgbClr val="5A6B7A"/>
                </a:solidFill>
              </a:rPr>
              <a:t>Fouille de Donnees M1  -  Projet P19</a:t>
            </a:r>
            <a:endParaRPr lang="en-US" sz="1000" dirty="0"/>
          </a:p>
        </p:txBody>
      </p:sp>
      <p:sp>
        <p:nvSpPr>
          <p:cNvPr id="12" name="Text 9"/>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6B7A"/>
                </a:solidFill>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09728"/>
            <a:ext cx="11183112" cy="292608"/>
          </a:xfrm>
          <a:prstGeom prst="rect">
            <a:avLst/>
          </a:prstGeom>
          <a:noFill/>
          <a:ln/>
        </p:spPr>
        <p:txBody>
          <a:bodyPr wrap="square" rtlCol="0" anchor="ctr"/>
          <a:lstStyle/>
          <a:p>
            <a:pPr indent="0" marL="0">
              <a:buNone/>
            </a:pPr>
            <a:r>
              <a:rPr lang="en-US" sz="1200" b="1" spc="200" kern="0" dirty="0">
                <a:solidFill>
                  <a:srgbClr val="2E86AB"/>
                </a:solidFill>
                <a:latin typeface="Calibri" pitchFamily="34" charset="0"/>
                <a:ea typeface="Calibri" pitchFamily="34" charset="-122"/>
                <a:cs typeface="Calibri" pitchFamily="34" charset="-120"/>
              </a:rPr>
              <a:t>3. PREPARATION</a:t>
            </a:r>
            <a:endParaRPr lang="en-US" sz="1200" dirty="0"/>
          </a:p>
        </p:txBody>
      </p:sp>
      <p:sp>
        <p:nvSpPr>
          <p:cNvPr id="3" name="Text 1"/>
          <p:cNvSpPr/>
          <p:nvPr/>
        </p:nvSpPr>
        <p:spPr>
          <a:xfrm>
            <a:off x="502920" y="365760"/>
            <a:ext cx="11183112" cy="82296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Nettoyage, encodage et construction des variables</a:t>
            </a:r>
            <a:endParaRPr lang="en-US" sz="3000" dirty="0"/>
          </a:p>
        </p:txBody>
      </p:sp>
      <p:sp>
        <p:nvSpPr>
          <p:cNvPr id="4" name="Shape 2"/>
          <p:cNvSpPr/>
          <p:nvPr/>
        </p:nvSpPr>
        <p:spPr>
          <a:xfrm>
            <a:off x="502920" y="1508760"/>
            <a:ext cx="3611880" cy="4480560"/>
          </a:xfrm>
          <a:prstGeom prst="roundRect">
            <a:avLst>
              <a:gd name="adj" fmla="val 2025"/>
            </a:avLst>
          </a:prstGeom>
          <a:solidFill>
            <a:srgbClr val="F7F9FB"/>
          </a:solidFill>
          <a:ln/>
        </p:spPr>
      </p:sp>
      <p:sp>
        <p:nvSpPr>
          <p:cNvPr id="5" name="Shape 3"/>
          <p:cNvSpPr/>
          <p:nvPr/>
        </p:nvSpPr>
        <p:spPr>
          <a:xfrm>
            <a:off x="502920" y="1508760"/>
            <a:ext cx="3611880" cy="109728"/>
          </a:xfrm>
          <a:prstGeom prst="rect">
            <a:avLst/>
          </a:prstGeom>
          <a:solidFill>
            <a:srgbClr val="2E86AB"/>
          </a:solidFill>
          <a:ln/>
        </p:spPr>
      </p:sp>
      <p:sp>
        <p:nvSpPr>
          <p:cNvPr id="6" name="Text 4"/>
          <p:cNvSpPr/>
          <p:nvPr/>
        </p:nvSpPr>
        <p:spPr>
          <a:xfrm>
            <a:off x="777240" y="1828800"/>
            <a:ext cx="3108960" cy="457200"/>
          </a:xfrm>
          <a:prstGeom prst="rect">
            <a:avLst/>
          </a:prstGeom>
          <a:noFill/>
          <a:ln/>
        </p:spPr>
        <p:txBody>
          <a:bodyPr wrap="square" rtlCol="0" anchor="ctr"/>
          <a:lstStyle/>
          <a:p>
            <a:pPr indent="0" marL="0">
              <a:buNone/>
            </a:pPr>
            <a:r>
              <a:rPr lang="en-US" sz="1700" b="1" dirty="0">
                <a:solidFill>
                  <a:srgbClr val="1B3A5C"/>
                </a:solidFill>
              </a:rPr>
              <a:t>Nettoyage</a:t>
            </a:r>
            <a:endParaRPr lang="en-US" sz="1700" dirty="0"/>
          </a:p>
        </p:txBody>
      </p:sp>
      <p:sp>
        <p:nvSpPr>
          <p:cNvPr id="7" name="Text 5"/>
          <p:cNvSpPr/>
          <p:nvPr/>
        </p:nvSpPr>
        <p:spPr>
          <a:xfrm>
            <a:off x="777240" y="2423160"/>
            <a:ext cx="3108960" cy="822960"/>
          </a:xfrm>
          <a:prstGeom prst="rect">
            <a:avLst/>
          </a:prstGeom>
          <a:noFill/>
          <a:ln/>
        </p:spPr>
        <p:txBody>
          <a:bodyPr wrap="square" rtlCol="0" anchor="t"/>
          <a:lstStyle/>
          <a:p>
            <a:pPr marL="342900" indent="-342900">
              <a:lnSpc>
                <a:spcPts val="1700"/>
              </a:lnSpc>
              <a:buSzPct val="100000"/>
              <a:buChar char="•"/>
            </a:pPr>
            <a:r>
              <a:rPr lang="en-US" sz="1250" dirty="0">
                <a:solidFill>
                  <a:srgbClr val="2A2A2A"/>
                </a:solidFill>
              </a:rPr>
              <a:t>Suppression des doublons</a:t>
            </a:r>
            <a:endParaRPr lang="en-US" sz="1250" dirty="0"/>
          </a:p>
        </p:txBody>
      </p:sp>
      <p:sp>
        <p:nvSpPr>
          <p:cNvPr id="8" name="Text 6"/>
          <p:cNvSpPr/>
          <p:nvPr/>
        </p:nvSpPr>
        <p:spPr>
          <a:xfrm>
            <a:off x="777240" y="3291840"/>
            <a:ext cx="3108960" cy="822960"/>
          </a:xfrm>
          <a:prstGeom prst="rect">
            <a:avLst/>
          </a:prstGeom>
          <a:noFill/>
          <a:ln/>
        </p:spPr>
        <p:txBody>
          <a:bodyPr wrap="square" rtlCol="0" anchor="t"/>
          <a:lstStyle/>
          <a:p>
            <a:pPr marL="342900" indent="-342900">
              <a:lnSpc>
                <a:spcPts val="1700"/>
              </a:lnSpc>
              <a:buSzPct val="100000"/>
              <a:buChar char="•"/>
            </a:pPr>
            <a:r>
              <a:rPr lang="en-US" sz="1250" dirty="0">
                <a:solidFill>
                  <a:srgbClr val="2A2A2A"/>
                </a:solidFill>
              </a:rPr>
              <a:t>Agregation en serie nationale hebdomadaire</a:t>
            </a:r>
            <a:endParaRPr lang="en-US" sz="1250" dirty="0"/>
          </a:p>
        </p:txBody>
      </p:sp>
      <p:sp>
        <p:nvSpPr>
          <p:cNvPr id="9" name="Text 7"/>
          <p:cNvSpPr/>
          <p:nvPr/>
        </p:nvSpPr>
        <p:spPr>
          <a:xfrm>
            <a:off x="777240" y="4160520"/>
            <a:ext cx="3108960" cy="822960"/>
          </a:xfrm>
          <a:prstGeom prst="rect">
            <a:avLst/>
          </a:prstGeom>
          <a:noFill/>
          <a:ln/>
        </p:spPr>
        <p:txBody>
          <a:bodyPr wrap="square" rtlCol="0" anchor="t"/>
          <a:lstStyle/>
          <a:p>
            <a:pPr marL="342900" indent="-342900">
              <a:lnSpc>
                <a:spcPts val="1700"/>
              </a:lnSpc>
              <a:buSzPct val="100000"/>
              <a:buChar char="•"/>
            </a:pPr>
            <a:r>
              <a:rPr lang="en-US" sz="1250" dirty="0">
                <a:solidFill>
                  <a:srgbClr val="2A2A2A"/>
                </a:solidFill>
              </a:rPr>
              <a:t>Interpolation des valeurs manquantes</a:t>
            </a:r>
            <a:endParaRPr lang="en-US" sz="1250" dirty="0"/>
          </a:p>
        </p:txBody>
      </p:sp>
      <p:sp>
        <p:nvSpPr>
          <p:cNvPr id="10" name="Shape 8"/>
          <p:cNvSpPr/>
          <p:nvPr/>
        </p:nvSpPr>
        <p:spPr>
          <a:xfrm>
            <a:off x="4343400" y="1508760"/>
            <a:ext cx="3611880" cy="4480560"/>
          </a:xfrm>
          <a:prstGeom prst="roundRect">
            <a:avLst>
              <a:gd name="adj" fmla="val 2025"/>
            </a:avLst>
          </a:prstGeom>
          <a:solidFill>
            <a:srgbClr val="F7F9FB"/>
          </a:solidFill>
          <a:ln/>
        </p:spPr>
      </p:sp>
      <p:sp>
        <p:nvSpPr>
          <p:cNvPr id="11" name="Shape 9"/>
          <p:cNvSpPr/>
          <p:nvPr/>
        </p:nvSpPr>
        <p:spPr>
          <a:xfrm>
            <a:off x="4343400" y="1508760"/>
            <a:ext cx="3611880" cy="109728"/>
          </a:xfrm>
          <a:prstGeom prst="rect">
            <a:avLst/>
          </a:prstGeom>
          <a:solidFill>
            <a:srgbClr val="E67E22"/>
          </a:solidFill>
          <a:ln/>
        </p:spPr>
      </p:sp>
      <p:sp>
        <p:nvSpPr>
          <p:cNvPr id="12" name="Text 10"/>
          <p:cNvSpPr/>
          <p:nvPr/>
        </p:nvSpPr>
        <p:spPr>
          <a:xfrm>
            <a:off x="4617720" y="1828800"/>
            <a:ext cx="3108960" cy="457200"/>
          </a:xfrm>
          <a:prstGeom prst="rect">
            <a:avLst/>
          </a:prstGeom>
          <a:noFill/>
          <a:ln/>
        </p:spPr>
        <p:txBody>
          <a:bodyPr wrap="square" rtlCol="0" anchor="ctr"/>
          <a:lstStyle/>
          <a:p>
            <a:pPr indent="0" marL="0">
              <a:buNone/>
            </a:pPr>
            <a:r>
              <a:rPr lang="en-US" sz="1700" b="1" dirty="0">
                <a:solidFill>
                  <a:srgbClr val="1B3A5C"/>
                </a:solidFill>
              </a:rPr>
              <a:t>Encodage</a:t>
            </a:r>
            <a:endParaRPr lang="en-US" sz="1700" dirty="0"/>
          </a:p>
        </p:txBody>
      </p:sp>
      <p:sp>
        <p:nvSpPr>
          <p:cNvPr id="13" name="Text 11"/>
          <p:cNvSpPr/>
          <p:nvPr/>
        </p:nvSpPr>
        <p:spPr>
          <a:xfrm>
            <a:off x="4617720" y="2423160"/>
            <a:ext cx="3108960" cy="822960"/>
          </a:xfrm>
          <a:prstGeom prst="rect">
            <a:avLst/>
          </a:prstGeom>
          <a:noFill/>
          <a:ln/>
        </p:spPr>
        <p:txBody>
          <a:bodyPr wrap="square" rtlCol="0" anchor="t"/>
          <a:lstStyle/>
          <a:p>
            <a:pPr marL="342900" indent="-342900">
              <a:lnSpc>
                <a:spcPts val="1700"/>
              </a:lnSpc>
              <a:buSzPct val="100000"/>
              <a:buChar char="•"/>
            </a:pPr>
            <a:r>
              <a:rPr lang="en-US" sz="1250" dirty="0">
                <a:solidFill>
                  <a:srgbClr val="2A2A2A"/>
                </a:solidFill>
              </a:rPr>
              <a:t>Calendaire cyclique (mois -&gt; sin/cos)</a:t>
            </a:r>
            <a:endParaRPr lang="en-US" sz="1250" dirty="0"/>
          </a:p>
        </p:txBody>
      </p:sp>
      <p:sp>
        <p:nvSpPr>
          <p:cNvPr id="14" name="Text 12"/>
          <p:cNvSpPr/>
          <p:nvPr/>
        </p:nvSpPr>
        <p:spPr>
          <a:xfrm>
            <a:off x="4617720" y="3291840"/>
            <a:ext cx="3108960" cy="822960"/>
          </a:xfrm>
          <a:prstGeom prst="rect">
            <a:avLst/>
          </a:prstGeom>
          <a:noFill/>
          <a:ln/>
        </p:spPr>
        <p:txBody>
          <a:bodyPr wrap="square" rtlCol="0" anchor="t"/>
          <a:lstStyle/>
          <a:p>
            <a:pPr marL="342900" indent="-342900">
              <a:lnSpc>
                <a:spcPts val="1700"/>
              </a:lnSpc>
              <a:buSzPct val="100000"/>
              <a:buChar char="•"/>
            </a:pPr>
            <a:r>
              <a:rPr lang="en-US" sz="1250" dirty="0">
                <a:solidFill>
                  <a:srgbClr val="2A2A2A"/>
                </a:solidFill>
              </a:rPr>
              <a:t>One-Hot pour l'analyse par marche</a:t>
            </a:r>
            <a:endParaRPr lang="en-US" sz="1250" dirty="0"/>
          </a:p>
        </p:txBody>
      </p:sp>
      <p:sp>
        <p:nvSpPr>
          <p:cNvPr id="15" name="Text 13"/>
          <p:cNvSpPr/>
          <p:nvPr/>
        </p:nvSpPr>
        <p:spPr>
          <a:xfrm>
            <a:off x="4617720" y="4160520"/>
            <a:ext cx="3108960" cy="822960"/>
          </a:xfrm>
          <a:prstGeom prst="rect">
            <a:avLst/>
          </a:prstGeom>
          <a:noFill/>
          <a:ln/>
        </p:spPr>
        <p:txBody>
          <a:bodyPr wrap="square" rtlCol="0" anchor="t"/>
          <a:lstStyle/>
          <a:p>
            <a:pPr marL="342900" indent="-342900">
              <a:lnSpc>
                <a:spcPts val="1700"/>
              </a:lnSpc>
              <a:buSzPct val="100000"/>
              <a:buChar char="•"/>
            </a:pPr>
            <a:r>
              <a:rPr lang="en-US" sz="1250" dirty="0">
                <a:solidFill>
                  <a:srgbClr val="2A2A2A"/>
                </a:solidFill>
              </a:rPr>
              <a:t>Pas de SMOTE : probleme de regression</a:t>
            </a:r>
            <a:endParaRPr lang="en-US" sz="1250" dirty="0"/>
          </a:p>
        </p:txBody>
      </p:sp>
      <p:sp>
        <p:nvSpPr>
          <p:cNvPr id="16" name="Shape 14"/>
          <p:cNvSpPr/>
          <p:nvPr/>
        </p:nvSpPr>
        <p:spPr>
          <a:xfrm>
            <a:off x="8183880" y="1508760"/>
            <a:ext cx="3611880" cy="4480560"/>
          </a:xfrm>
          <a:prstGeom prst="roundRect">
            <a:avLst>
              <a:gd name="adj" fmla="val 2025"/>
            </a:avLst>
          </a:prstGeom>
          <a:solidFill>
            <a:srgbClr val="F7F9FB"/>
          </a:solidFill>
          <a:ln/>
        </p:spPr>
      </p:sp>
      <p:sp>
        <p:nvSpPr>
          <p:cNvPr id="17" name="Shape 15"/>
          <p:cNvSpPr/>
          <p:nvPr/>
        </p:nvSpPr>
        <p:spPr>
          <a:xfrm>
            <a:off x="8183880" y="1508760"/>
            <a:ext cx="3611880" cy="109728"/>
          </a:xfrm>
          <a:prstGeom prst="rect">
            <a:avLst/>
          </a:prstGeom>
          <a:solidFill>
            <a:srgbClr val="27AE60"/>
          </a:solidFill>
          <a:ln/>
        </p:spPr>
      </p:sp>
      <p:sp>
        <p:nvSpPr>
          <p:cNvPr id="18" name="Text 16"/>
          <p:cNvSpPr/>
          <p:nvPr/>
        </p:nvSpPr>
        <p:spPr>
          <a:xfrm>
            <a:off x="8458200" y="1828800"/>
            <a:ext cx="3108960" cy="457200"/>
          </a:xfrm>
          <a:prstGeom prst="rect">
            <a:avLst/>
          </a:prstGeom>
          <a:noFill/>
          <a:ln/>
        </p:spPr>
        <p:txBody>
          <a:bodyPr wrap="square" rtlCol="0" anchor="ctr"/>
          <a:lstStyle/>
          <a:p>
            <a:pPr indent="0" marL="0">
              <a:buNone/>
            </a:pPr>
            <a:r>
              <a:rPr lang="en-US" sz="1700" b="1" dirty="0">
                <a:solidFill>
                  <a:srgbClr val="1B3A5C"/>
                </a:solidFill>
              </a:rPr>
              <a:t>Variables retardees</a:t>
            </a:r>
            <a:endParaRPr lang="en-US" sz="1700" dirty="0"/>
          </a:p>
        </p:txBody>
      </p:sp>
      <p:sp>
        <p:nvSpPr>
          <p:cNvPr id="19" name="Text 17"/>
          <p:cNvSpPr/>
          <p:nvPr/>
        </p:nvSpPr>
        <p:spPr>
          <a:xfrm>
            <a:off x="8458200" y="2423160"/>
            <a:ext cx="3108960" cy="822960"/>
          </a:xfrm>
          <a:prstGeom prst="rect">
            <a:avLst/>
          </a:prstGeom>
          <a:noFill/>
          <a:ln/>
        </p:spPr>
        <p:txBody>
          <a:bodyPr wrap="square" rtlCol="0" anchor="t"/>
          <a:lstStyle/>
          <a:p>
            <a:pPr marL="342900" indent="-342900">
              <a:lnSpc>
                <a:spcPts val="1700"/>
              </a:lnSpc>
              <a:buSzPct val="100000"/>
              <a:buChar char="•"/>
            </a:pPr>
            <a:r>
              <a:rPr lang="en-US" sz="1250" dirty="0">
                <a:solidFill>
                  <a:srgbClr val="2A2A2A"/>
                </a:solidFill>
              </a:rPr>
              <a:t>Lags 1, 2, 4, 8, 12, 52 semaines</a:t>
            </a:r>
            <a:endParaRPr lang="en-US" sz="1250" dirty="0"/>
          </a:p>
        </p:txBody>
      </p:sp>
      <p:sp>
        <p:nvSpPr>
          <p:cNvPr id="20" name="Text 18"/>
          <p:cNvSpPr/>
          <p:nvPr/>
        </p:nvSpPr>
        <p:spPr>
          <a:xfrm>
            <a:off x="8458200" y="3291840"/>
            <a:ext cx="3108960" cy="822960"/>
          </a:xfrm>
          <a:prstGeom prst="rect">
            <a:avLst/>
          </a:prstGeom>
          <a:noFill/>
          <a:ln/>
        </p:spPr>
        <p:txBody>
          <a:bodyPr wrap="square" rtlCol="0" anchor="t"/>
          <a:lstStyle/>
          <a:p>
            <a:pPr marL="342900" indent="-342900">
              <a:lnSpc>
                <a:spcPts val="1700"/>
              </a:lnSpc>
              <a:buSzPct val="100000"/>
              <a:buChar char="•"/>
            </a:pPr>
            <a:r>
              <a:rPr lang="en-US" sz="1250" dirty="0">
                <a:solidFill>
                  <a:srgbClr val="2A2A2A"/>
                </a:solidFill>
              </a:rPr>
              <a:t>Moyennes / ecarts-types mobiles (4, 12 sem.)</a:t>
            </a:r>
            <a:endParaRPr lang="en-US" sz="1250" dirty="0"/>
          </a:p>
        </p:txBody>
      </p:sp>
      <p:sp>
        <p:nvSpPr>
          <p:cNvPr id="21" name="Text 19"/>
          <p:cNvSpPr/>
          <p:nvPr/>
        </p:nvSpPr>
        <p:spPr>
          <a:xfrm>
            <a:off x="8458200" y="4160520"/>
            <a:ext cx="3108960" cy="822960"/>
          </a:xfrm>
          <a:prstGeom prst="rect">
            <a:avLst/>
          </a:prstGeom>
          <a:noFill/>
          <a:ln/>
        </p:spPr>
        <p:txBody>
          <a:bodyPr wrap="square" rtlCol="0" anchor="t"/>
          <a:lstStyle/>
          <a:p>
            <a:pPr marL="342900" indent="-342900">
              <a:lnSpc>
                <a:spcPts val="1700"/>
              </a:lnSpc>
              <a:buSzPct val="100000"/>
              <a:buChar char="•"/>
            </a:pPr>
            <a:r>
              <a:rPr lang="en-US" sz="1250" dirty="0">
                <a:solidFill>
                  <a:srgbClr val="2A2A2A"/>
                </a:solidFill>
              </a:rPr>
              <a:t>Indicatrice saison des pluies</a:t>
            </a:r>
            <a:endParaRPr lang="en-US" sz="1250" dirty="0"/>
          </a:p>
        </p:txBody>
      </p:sp>
      <p:sp>
        <p:nvSpPr>
          <p:cNvPr id="22" name="Text 20"/>
          <p:cNvSpPr/>
          <p:nvPr/>
        </p:nvSpPr>
        <p:spPr>
          <a:xfrm>
            <a:off x="502920" y="6400800"/>
            <a:ext cx="5486400" cy="274320"/>
          </a:xfrm>
          <a:prstGeom prst="rect">
            <a:avLst/>
          </a:prstGeom>
          <a:noFill/>
          <a:ln/>
        </p:spPr>
        <p:txBody>
          <a:bodyPr wrap="square" rtlCol="0" anchor="ctr"/>
          <a:lstStyle/>
          <a:p>
            <a:pPr indent="0" marL="0">
              <a:buNone/>
            </a:pPr>
            <a:r>
              <a:rPr lang="en-US" sz="1000" dirty="0">
                <a:solidFill>
                  <a:srgbClr val="5A6B7A"/>
                </a:solidFill>
              </a:rPr>
              <a:t>Fouille de Donnees M1  -  Projet P19</a:t>
            </a:r>
            <a:endParaRPr lang="en-US" sz="1000" dirty="0"/>
          </a:p>
        </p:txBody>
      </p:sp>
      <p:sp>
        <p:nvSpPr>
          <p:cNvPr id="23" name="Text 21"/>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6B7A"/>
                </a:solidFill>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502920" y="109728"/>
            <a:ext cx="11183112" cy="292608"/>
          </a:xfrm>
          <a:prstGeom prst="rect">
            <a:avLst/>
          </a:prstGeom>
          <a:noFill/>
          <a:ln/>
        </p:spPr>
        <p:txBody>
          <a:bodyPr wrap="square" rtlCol="0" anchor="ctr"/>
          <a:lstStyle/>
          <a:p>
            <a:pPr indent="0" marL="0">
              <a:buNone/>
            </a:pPr>
            <a:r>
              <a:rPr lang="en-US" sz="1200" b="1" spc="200" kern="0" dirty="0">
                <a:solidFill>
                  <a:srgbClr val="6FA8C8"/>
                </a:solidFill>
                <a:latin typeface="Calibri" pitchFamily="34" charset="0"/>
                <a:ea typeface="Calibri" pitchFamily="34" charset="-122"/>
                <a:cs typeface="Calibri" pitchFamily="34" charset="-120"/>
              </a:rPr>
              <a:t>3. PREPARATION - RIGUEUR METHODOLOGIQUE</a:t>
            </a:r>
            <a:endParaRPr lang="en-US" sz="1200" dirty="0"/>
          </a:p>
        </p:txBody>
      </p:sp>
      <p:sp>
        <p:nvSpPr>
          <p:cNvPr id="3" name="Text 1"/>
          <p:cNvSpPr/>
          <p:nvPr/>
        </p:nvSpPr>
        <p:spPr>
          <a:xfrm>
            <a:off x="502920" y="777240"/>
            <a:ext cx="11155680" cy="1188720"/>
          </a:xfrm>
          <a:prstGeom prst="rect">
            <a:avLst/>
          </a:prstGeom>
          <a:noFill/>
          <a:ln/>
        </p:spPr>
        <p:txBody>
          <a:bodyPr wrap="square" rtlCol="0" anchor="ctr"/>
          <a:lstStyle/>
          <a:p>
            <a:pPr indent="0" marL="0">
              <a:lnSpc>
                <a:spcPts val="3200"/>
              </a:lnSpc>
              <a:buNone/>
            </a:pPr>
            <a:r>
              <a:rPr lang="en-US" sz="2700" b="1" dirty="0">
                <a:solidFill>
                  <a:srgbClr val="FFFFFF"/>
                </a:solidFill>
              </a:rPr>
              <a:t>Le piege des modeles a base d'arbres :</a:t>
            </a:r>
            <a:endParaRPr lang="en-US" sz="2700" dirty="0"/>
          </a:p>
          <a:p>
            <a:pPr indent="0" marL="0">
              <a:lnSpc>
                <a:spcPts val="3200"/>
              </a:lnSpc>
              <a:buNone/>
            </a:pPr>
            <a:r>
              <a:rPr lang="en-US" sz="2700" b="1" dirty="0">
                <a:solidFill>
                  <a:srgbClr val="FFFFFF"/>
                </a:solidFill>
              </a:rPr>
              <a:t>prevoir le niveau plutot que la variation</a:t>
            </a:r>
            <a:endParaRPr lang="en-US" sz="2700" dirty="0"/>
          </a:p>
        </p:txBody>
      </p:sp>
      <p:sp>
        <p:nvSpPr>
          <p:cNvPr id="4" name="Shape 2"/>
          <p:cNvSpPr/>
          <p:nvPr/>
        </p:nvSpPr>
        <p:spPr>
          <a:xfrm>
            <a:off x="502920" y="2148840"/>
            <a:ext cx="5394960" cy="3931920"/>
          </a:xfrm>
          <a:prstGeom prst="roundRect">
            <a:avLst>
              <a:gd name="adj" fmla="val 1860"/>
            </a:avLst>
          </a:prstGeom>
          <a:solidFill>
            <a:srgbClr val="24405C"/>
          </a:solidFill>
          <a:ln/>
        </p:spPr>
      </p:sp>
      <p:sp>
        <p:nvSpPr>
          <p:cNvPr id="5" name="Text 3"/>
          <p:cNvSpPr/>
          <p:nvPr/>
        </p:nvSpPr>
        <p:spPr>
          <a:xfrm>
            <a:off x="822960" y="2377440"/>
            <a:ext cx="2743200" cy="320040"/>
          </a:xfrm>
          <a:prstGeom prst="rect">
            <a:avLst/>
          </a:prstGeom>
          <a:noFill/>
          <a:ln/>
        </p:spPr>
        <p:txBody>
          <a:bodyPr wrap="square" rtlCol="0" anchor="ctr"/>
          <a:lstStyle/>
          <a:p>
            <a:pPr indent="0" marL="0">
              <a:buNone/>
            </a:pPr>
            <a:r>
              <a:rPr lang="en-US" sz="1300" b="1" dirty="0">
                <a:solidFill>
                  <a:srgbClr val="FF9F80"/>
                </a:solidFill>
              </a:rPr>
              <a:t>AVANT</a:t>
            </a:r>
            <a:endParaRPr lang="en-US" sz="1300" dirty="0"/>
          </a:p>
        </p:txBody>
      </p:sp>
      <p:sp>
        <p:nvSpPr>
          <p:cNvPr id="6" name="Text 4"/>
          <p:cNvSpPr/>
          <p:nvPr/>
        </p:nvSpPr>
        <p:spPr>
          <a:xfrm>
            <a:off x="822960" y="2743200"/>
            <a:ext cx="4754880" cy="548640"/>
          </a:xfrm>
          <a:prstGeom prst="rect">
            <a:avLst/>
          </a:prstGeom>
          <a:noFill/>
          <a:ln/>
        </p:spPr>
        <p:txBody>
          <a:bodyPr wrap="square" rtlCol="0" anchor="ctr"/>
          <a:lstStyle/>
          <a:p>
            <a:pPr indent="0" marL="0">
              <a:lnSpc>
                <a:spcPts val="1900"/>
              </a:lnSpc>
              <a:buNone/>
            </a:pPr>
            <a:r>
              <a:rPr lang="en-US" sz="1400" dirty="0">
                <a:solidFill>
                  <a:srgbClr val="FFFFFF"/>
                </a:solidFill>
              </a:rPr>
              <a:t>Le modele predit directement le NIVEAU du prix.</a:t>
            </a:r>
            <a:endParaRPr lang="en-US" sz="1400" dirty="0"/>
          </a:p>
        </p:txBody>
      </p:sp>
      <p:sp>
        <p:nvSpPr>
          <p:cNvPr id="7" name="Text 5"/>
          <p:cNvSpPr/>
          <p:nvPr/>
        </p:nvSpPr>
        <p:spPr>
          <a:xfrm>
            <a:off x="822960" y="3337560"/>
            <a:ext cx="4754880" cy="1280160"/>
          </a:xfrm>
          <a:prstGeom prst="rect">
            <a:avLst/>
          </a:prstGeom>
          <a:noFill/>
          <a:ln/>
        </p:spPr>
        <p:txBody>
          <a:bodyPr wrap="square" rtlCol="0" anchor="ctr"/>
          <a:lstStyle/>
          <a:p>
            <a:pPr indent="0" marL="0">
              <a:lnSpc>
                <a:spcPts val="1800"/>
              </a:lnSpc>
              <a:buNone/>
            </a:pPr>
            <a:r>
              <a:rPr lang="en-US" sz="1300" dirty="0">
                <a:solidFill>
                  <a:srgbClr val="CFE0EC"/>
                </a:solidFill>
              </a:rPr>
              <a:t>Un arbre ne peut jamais predire au-dela du maximum vu a l'entrainement. Sur une serie a tendance haussiere (inflation), il reste bloque et sous-estime systematiquement la periode de test.</a:t>
            </a:r>
            <a:endParaRPr lang="en-US" sz="1300" dirty="0"/>
          </a:p>
        </p:txBody>
      </p:sp>
      <p:sp>
        <p:nvSpPr>
          <p:cNvPr id="8" name="Text 6"/>
          <p:cNvSpPr/>
          <p:nvPr/>
        </p:nvSpPr>
        <p:spPr>
          <a:xfrm>
            <a:off x="822960" y="4846320"/>
            <a:ext cx="4754880" cy="822960"/>
          </a:xfrm>
          <a:prstGeom prst="rect">
            <a:avLst/>
          </a:prstGeom>
          <a:noFill/>
          <a:ln/>
        </p:spPr>
        <p:txBody>
          <a:bodyPr wrap="square" rtlCol="0" anchor="ctr"/>
          <a:lstStyle/>
          <a:p>
            <a:pPr indent="0" marL="0">
              <a:buNone/>
            </a:pPr>
            <a:r>
              <a:rPr lang="en-US" sz="2600" b="1" dirty="0">
                <a:solidFill>
                  <a:srgbClr val="FF9F80"/>
                </a:solidFill>
              </a:rPr>
              <a:t>R2 negatif</a:t>
            </a:r>
            <a:endParaRPr lang="en-US" sz="2600" dirty="0"/>
          </a:p>
        </p:txBody>
      </p:sp>
      <p:sp>
        <p:nvSpPr>
          <p:cNvPr id="9" name="Shape 7"/>
          <p:cNvSpPr/>
          <p:nvPr/>
        </p:nvSpPr>
        <p:spPr>
          <a:xfrm>
            <a:off x="6263640" y="2148840"/>
            <a:ext cx="5394960" cy="3931920"/>
          </a:xfrm>
          <a:prstGeom prst="roundRect">
            <a:avLst>
              <a:gd name="adj" fmla="val 1860"/>
            </a:avLst>
          </a:prstGeom>
          <a:solidFill>
            <a:srgbClr val="1F5D45"/>
          </a:solidFill>
          <a:ln/>
        </p:spPr>
      </p:sp>
      <p:sp>
        <p:nvSpPr>
          <p:cNvPr id="10" name="Text 8"/>
          <p:cNvSpPr/>
          <p:nvPr/>
        </p:nvSpPr>
        <p:spPr>
          <a:xfrm>
            <a:off x="6583680" y="2377440"/>
            <a:ext cx="2743200" cy="320040"/>
          </a:xfrm>
          <a:prstGeom prst="rect">
            <a:avLst/>
          </a:prstGeom>
          <a:noFill/>
          <a:ln/>
        </p:spPr>
        <p:txBody>
          <a:bodyPr wrap="square" rtlCol="0" anchor="ctr"/>
          <a:lstStyle/>
          <a:p>
            <a:pPr indent="0" marL="0">
              <a:buNone/>
            </a:pPr>
            <a:r>
              <a:rPr lang="en-US" sz="1300" b="1" dirty="0">
                <a:solidFill>
                  <a:srgbClr val="7FE0B0"/>
                </a:solidFill>
              </a:rPr>
              <a:t>APRES</a:t>
            </a:r>
            <a:endParaRPr lang="en-US" sz="1300" dirty="0"/>
          </a:p>
        </p:txBody>
      </p:sp>
      <p:sp>
        <p:nvSpPr>
          <p:cNvPr id="11" name="Text 9"/>
          <p:cNvSpPr/>
          <p:nvPr/>
        </p:nvSpPr>
        <p:spPr>
          <a:xfrm>
            <a:off x="6583680" y="2743200"/>
            <a:ext cx="4754880" cy="548640"/>
          </a:xfrm>
          <a:prstGeom prst="rect">
            <a:avLst/>
          </a:prstGeom>
          <a:noFill/>
          <a:ln/>
        </p:spPr>
        <p:txBody>
          <a:bodyPr wrap="square" rtlCol="0" anchor="ctr"/>
          <a:lstStyle/>
          <a:p>
            <a:pPr indent="0" marL="0">
              <a:lnSpc>
                <a:spcPts val="1900"/>
              </a:lnSpc>
              <a:buNone/>
            </a:pPr>
            <a:r>
              <a:rPr lang="en-US" sz="1400" dirty="0">
                <a:solidFill>
                  <a:srgbClr val="FFFFFF"/>
                </a:solidFill>
              </a:rPr>
              <a:t>Le modele predit la VARIATION hebdomadaire (stationnaire).</a:t>
            </a:r>
            <a:endParaRPr lang="en-US" sz="1400" dirty="0"/>
          </a:p>
        </p:txBody>
      </p:sp>
      <p:sp>
        <p:nvSpPr>
          <p:cNvPr id="12" name="Text 10"/>
          <p:cNvSpPr/>
          <p:nvPr/>
        </p:nvSpPr>
        <p:spPr>
          <a:xfrm>
            <a:off x="6583680" y="3337560"/>
            <a:ext cx="4754880" cy="1280160"/>
          </a:xfrm>
          <a:prstGeom prst="rect">
            <a:avLst/>
          </a:prstGeom>
          <a:noFill/>
          <a:ln/>
        </p:spPr>
        <p:txBody>
          <a:bodyPr wrap="square" rtlCol="0" anchor="ctr"/>
          <a:lstStyle/>
          <a:p>
            <a:pPr indent="0" marL="0">
              <a:lnSpc>
                <a:spcPts val="1800"/>
              </a:lnSpc>
              <a:buNone/>
            </a:pPr>
            <a:r>
              <a:rPr lang="en-US" sz="1300" dirty="0">
                <a:solidFill>
                  <a:srgbClr val="CFE0EC"/>
                </a:solidFill>
              </a:rPr>
              <a:t>Le niveau est reconstruit par cumul a partir de la derniere valeur connue - pratique standard en prevision par apprentissage automatique.</a:t>
            </a:r>
            <a:endParaRPr lang="en-US" sz="1300" dirty="0"/>
          </a:p>
        </p:txBody>
      </p:sp>
      <p:sp>
        <p:nvSpPr>
          <p:cNvPr id="13" name="Text 11"/>
          <p:cNvSpPr/>
          <p:nvPr/>
        </p:nvSpPr>
        <p:spPr>
          <a:xfrm>
            <a:off x="6583680" y="4846320"/>
            <a:ext cx="4754880" cy="822960"/>
          </a:xfrm>
          <a:prstGeom prst="rect">
            <a:avLst/>
          </a:prstGeom>
          <a:noFill/>
          <a:ln/>
        </p:spPr>
        <p:txBody>
          <a:bodyPr wrap="square" rtlCol="0" anchor="ctr"/>
          <a:lstStyle/>
          <a:p>
            <a:pPr indent="0" marL="0">
              <a:buNone/>
            </a:pPr>
            <a:r>
              <a:rPr lang="en-US" sz="2600" b="1" dirty="0">
                <a:solidFill>
                  <a:srgbClr val="7FE0B0"/>
                </a:solidFill>
              </a:rPr>
              <a:t>R2 : 0,21 a 0,65</a:t>
            </a:r>
            <a:endParaRPr lang="en-US" sz="2600" dirty="0"/>
          </a:p>
        </p:txBody>
      </p:sp>
      <p:sp>
        <p:nvSpPr>
          <p:cNvPr id="14" name="Text 12"/>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6B7A"/>
                </a:solidFill>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09728"/>
            <a:ext cx="11183112" cy="292608"/>
          </a:xfrm>
          <a:prstGeom prst="rect">
            <a:avLst/>
          </a:prstGeom>
          <a:noFill/>
          <a:ln/>
        </p:spPr>
        <p:txBody>
          <a:bodyPr wrap="square" rtlCol="0" anchor="ctr"/>
          <a:lstStyle/>
          <a:p>
            <a:pPr indent="0" marL="0">
              <a:buNone/>
            </a:pPr>
            <a:r>
              <a:rPr lang="en-US" sz="1200" b="1" spc="200" kern="0" dirty="0">
                <a:solidFill>
                  <a:srgbClr val="2E86AB"/>
                </a:solidFill>
                <a:latin typeface="Calibri" pitchFamily="34" charset="0"/>
                <a:ea typeface="Calibri" pitchFamily="34" charset="-122"/>
                <a:cs typeface="Calibri" pitchFamily="34" charset="-120"/>
              </a:rPr>
              <a:t>4. MODELISATION</a:t>
            </a:r>
            <a:endParaRPr lang="en-US" sz="1200" dirty="0"/>
          </a:p>
        </p:txBody>
      </p:sp>
      <p:sp>
        <p:nvSpPr>
          <p:cNvPr id="3" name="Text 1"/>
          <p:cNvSpPr/>
          <p:nvPr/>
        </p:nvSpPr>
        <p:spPr>
          <a:xfrm>
            <a:off x="502920" y="365760"/>
            <a:ext cx="11183112" cy="82296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Trois algorithmes compares pour chaque denree</a:t>
            </a:r>
            <a:endParaRPr lang="en-US" sz="3000" dirty="0"/>
          </a:p>
        </p:txBody>
      </p:sp>
      <p:sp>
        <p:nvSpPr>
          <p:cNvPr id="4" name="Shape 2"/>
          <p:cNvSpPr/>
          <p:nvPr/>
        </p:nvSpPr>
        <p:spPr>
          <a:xfrm>
            <a:off x="502920" y="1600200"/>
            <a:ext cx="3611880" cy="4297680"/>
          </a:xfrm>
          <a:prstGeom prst="roundRect">
            <a:avLst>
              <a:gd name="adj" fmla="val 2532"/>
            </a:avLst>
          </a:prstGeom>
          <a:solidFill>
            <a:srgbClr val="FFFFFF"/>
          </a:solidFill>
          <a:ln w="19050">
            <a:solidFill>
              <a:srgbClr val="8E44AD"/>
            </a:solidFill>
            <a:prstDash val="solid"/>
          </a:ln>
        </p:spPr>
      </p:sp>
      <p:sp>
        <p:nvSpPr>
          <p:cNvPr id="5" name="Shape 3"/>
          <p:cNvSpPr/>
          <p:nvPr/>
        </p:nvSpPr>
        <p:spPr>
          <a:xfrm>
            <a:off x="1943100" y="1965960"/>
            <a:ext cx="731520" cy="731520"/>
          </a:xfrm>
          <a:prstGeom prst="ellipse">
            <a:avLst/>
          </a:prstGeom>
          <a:solidFill>
            <a:srgbClr val="8E44AD"/>
          </a:solidFill>
          <a:ln/>
        </p:spPr>
      </p:sp>
      <p:sp>
        <p:nvSpPr>
          <p:cNvPr id="6" name="Text 4"/>
          <p:cNvSpPr/>
          <p:nvPr/>
        </p:nvSpPr>
        <p:spPr>
          <a:xfrm>
            <a:off x="1943100" y="1965960"/>
            <a:ext cx="731520" cy="731520"/>
          </a:xfrm>
          <a:prstGeom prst="rect">
            <a:avLst/>
          </a:prstGeom>
          <a:noFill/>
          <a:ln/>
        </p:spPr>
        <p:txBody>
          <a:bodyPr wrap="square" rtlCol="0" anchor="ctr"/>
          <a:lstStyle/>
          <a:p>
            <a:pPr algn="ctr" indent="0" marL="0">
              <a:buNone/>
            </a:pPr>
            <a:r>
              <a:rPr lang="en-US" sz="2400" b="1" dirty="0">
                <a:solidFill>
                  <a:srgbClr val="FFFFFF"/>
                </a:solidFill>
              </a:rPr>
              <a:t>1</a:t>
            </a:r>
            <a:endParaRPr lang="en-US" sz="2400" dirty="0"/>
          </a:p>
        </p:txBody>
      </p:sp>
      <p:sp>
        <p:nvSpPr>
          <p:cNvPr id="7" name="Text 5"/>
          <p:cNvSpPr/>
          <p:nvPr/>
        </p:nvSpPr>
        <p:spPr>
          <a:xfrm>
            <a:off x="731520" y="2880360"/>
            <a:ext cx="3154680" cy="457200"/>
          </a:xfrm>
          <a:prstGeom prst="rect">
            <a:avLst/>
          </a:prstGeom>
          <a:noFill/>
          <a:ln/>
        </p:spPr>
        <p:txBody>
          <a:bodyPr wrap="square" rtlCol="0" anchor="ctr"/>
          <a:lstStyle/>
          <a:p>
            <a:pPr algn="ctr" indent="0" marL="0">
              <a:buNone/>
            </a:pPr>
            <a:r>
              <a:rPr lang="en-US" sz="1700" b="1" dirty="0">
                <a:solidFill>
                  <a:srgbClr val="1B3A5C"/>
                </a:solidFill>
              </a:rPr>
              <a:t>Holt-Winters</a:t>
            </a:r>
            <a:endParaRPr lang="en-US" sz="1700" dirty="0"/>
          </a:p>
        </p:txBody>
      </p:sp>
      <p:sp>
        <p:nvSpPr>
          <p:cNvPr id="8" name="Text 6"/>
          <p:cNvSpPr/>
          <p:nvPr/>
        </p:nvSpPr>
        <p:spPr>
          <a:xfrm>
            <a:off x="822960" y="3429000"/>
            <a:ext cx="2971800" cy="2194560"/>
          </a:xfrm>
          <a:prstGeom prst="rect">
            <a:avLst/>
          </a:prstGeom>
          <a:noFill/>
          <a:ln/>
        </p:spPr>
        <p:txBody>
          <a:bodyPr wrap="square" rtlCol="0" anchor="ctr"/>
          <a:lstStyle/>
          <a:p>
            <a:pPr algn="ctr" indent="0" marL="0">
              <a:lnSpc>
                <a:spcPts val="1700"/>
              </a:lnSpc>
              <a:buNone/>
            </a:pPr>
            <a:r>
              <a:rPr lang="en-US" sz="1200" dirty="0">
                <a:solidFill>
                  <a:srgbClr val="5A6B7A"/>
                </a:solidFill>
              </a:rPr>
              <a:t>Lissage exponentiel saisonnier (52 semaines). Modele statistique de reference, role equivalent a SARIMA dans la methodologie du cours (statsmodels indisponible hors-ligne).</a:t>
            </a:r>
            <a:endParaRPr lang="en-US" sz="1200" dirty="0"/>
          </a:p>
        </p:txBody>
      </p:sp>
      <p:sp>
        <p:nvSpPr>
          <p:cNvPr id="9" name="Shape 7"/>
          <p:cNvSpPr/>
          <p:nvPr/>
        </p:nvSpPr>
        <p:spPr>
          <a:xfrm>
            <a:off x="4343400" y="1600200"/>
            <a:ext cx="3611880" cy="4297680"/>
          </a:xfrm>
          <a:prstGeom prst="roundRect">
            <a:avLst>
              <a:gd name="adj" fmla="val 2532"/>
            </a:avLst>
          </a:prstGeom>
          <a:solidFill>
            <a:srgbClr val="FFFFFF"/>
          </a:solidFill>
          <a:ln w="19050">
            <a:solidFill>
              <a:srgbClr val="2E86AB"/>
            </a:solidFill>
            <a:prstDash val="solid"/>
          </a:ln>
        </p:spPr>
      </p:sp>
      <p:sp>
        <p:nvSpPr>
          <p:cNvPr id="10" name="Shape 8"/>
          <p:cNvSpPr/>
          <p:nvPr/>
        </p:nvSpPr>
        <p:spPr>
          <a:xfrm>
            <a:off x="5783580" y="1965960"/>
            <a:ext cx="731520" cy="731520"/>
          </a:xfrm>
          <a:prstGeom prst="ellipse">
            <a:avLst/>
          </a:prstGeom>
          <a:solidFill>
            <a:srgbClr val="2E86AB"/>
          </a:solidFill>
          <a:ln/>
        </p:spPr>
      </p:sp>
      <p:sp>
        <p:nvSpPr>
          <p:cNvPr id="11" name="Text 9"/>
          <p:cNvSpPr/>
          <p:nvPr/>
        </p:nvSpPr>
        <p:spPr>
          <a:xfrm>
            <a:off x="5783580" y="1965960"/>
            <a:ext cx="731520" cy="731520"/>
          </a:xfrm>
          <a:prstGeom prst="rect">
            <a:avLst/>
          </a:prstGeom>
          <a:noFill/>
          <a:ln/>
        </p:spPr>
        <p:txBody>
          <a:bodyPr wrap="square" rtlCol="0" anchor="ctr"/>
          <a:lstStyle/>
          <a:p>
            <a:pPr algn="ctr" indent="0" marL="0">
              <a:buNone/>
            </a:pPr>
            <a:r>
              <a:rPr lang="en-US" sz="2400" b="1" dirty="0">
                <a:solidFill>
                  <a:srgbClr val="FFFFFF"/>
                </a:solidFill>
              </a:rPr>
              <a:t>2</a:t>
            </a:r>
            <a:endParaRPr lang="en-US" sz="2400" dirty="0"/>
          </a:p>
        </p:txBody>
      </p:sp>
      <p:sp>
        <p:nvSpPr>
          <p:cNvPr id="12" name="Text 10"/>
          <p:cNvSpPr/>
          <p:nvPr/>
        </p:nvSpPr>
        <p:spPr>
          <a:xfrm>
            <a:off x="4572000" y="2880360"/>
            <a:ext cx="3154680" cy="457200"/>
          </a:xfrm>
          <a:prstGeom prst="rect">
            <a:avLst/>
          </a:prstGeom>
          <a:noFill/>
          <a:ln/>
        </p:spPr>
        <p:txBody>
          <a:bodyPr wrap="square" rtlCol="0" anchor="ctr"/>
          <a:lstStyle/>
          <a:p>
            <a:pPr algn="ctr" indent="0" marL="0">
              <a:buNone/>
            </a:pPr>
            <a:r>
              <a:rPr lang="en-US" sz="1700" b="1" dirty="0">
                <a:solidFill>
                  <a:srgbClr val="1B3A5C"/>
                </a:solidFill>
              </a:rPr>
              <a:t>Random Forest</a:t>
            </a:r>
            <a:endParaRPr lang="en-US" sz="1700" dirty="0"/>
          </a:p>
        </p:txBody>
      </p:sp>
      <p:sp>
        <p:nvSpPr>
          <p:cNvPr id="13" name="Text 11"/>
          <p:cNvSpPr/>
          <p:nvPr/>
        </p:nvSpPr>
        <p:spPr>
          <a:xfrm>
            <a:off x="4663440" y="3429000"/>
            <a:ext cx="2971800" cy="2194560"/>
          </a:xfrm>
          <a:prstGeom prst="rect">
            <a:avLst/>
          </a:prstGeom>
          <a:noFill/>
          <a:ln/>
        </p:spPr>
        <p:txBody>
          <a:bodyPr wrap="square" rtlCol="0" anchor="ctr"/>
          <a:lstStyle/>
          <a:p>
            <a:pPr algn="ctr" indent="0" marL="0">
              <a:lnSpc>
                <a:spcPts val="1700"/>
              </a:lnSpc>
              <a:buNone/>
            </a:pPr>
            <a:r>
              <a:rPr lang="en-US" sz="1200" dirty="0">
                <a:solidFill>
                  <a:srgbClr val="5A6B7A"/>
                </a:solidFill>
              </a:rPr>
              <a:t>Foret aleatoire de regression (scikit-learn) entrainee sur les variables retardees et calendaires.</a:t>
            </a:r>
            <a:endParaRPr lang="en-US" sz="1200" dirty="0"/>
          </a:p>
        </p:txBody>
      </p:sp>
      <p:sp>
        <p:nvSpPr>
          <p:cNvPr id="14" name="Shape 12"/>
          <p:cNvSpPr/>
          <p:nvPr/>
        </p:nvSpPr>
        <p:spPr>
          <a:xfrm>
            <a:off x="8183880" y="1600200"/>
            <a:ext cx="3611880" cy="4297680"/>
          </a:xfrm>
          <a:prstGeom prst="roundRect">
            <a:avLst>
              <a:gd name="adj" fmla="val 2532"/>
            </a:avLst>
          </a:prstGeom>
          <a:solidFill>
            <a:srgbClr val="FFFFFF"/>
          </a:solidFill>
          <a:ln w="19050">
            <a:solidFill>
              <a:srgbClr val="E67E22"/>
            </a:solidFill>
            <a:prstDash val="solid"/>
          </a:ln>
        </p:spPr>
      </p:sp>
      <p:sp>
        <p:nvSpPr>
          <p:cNvPr id="15" name="Shape 13"/>
          <p:cNvSpPr/>
          <p:nvPr/>
        </p:nvSpPr>
        <p:spPr>
          <a:xfrm>
            <a:off x="9624060" y="1965960"/>
            <a:ext cx="731520" cy="731520"/>
          </a:xfrm>
          <a:prstGeom prst="ellipse">
            <a:avLst/>
          </a:prstGeom>
          <a:solidFill>
            <a:srgbClr val="E67E22"/>
          </a:solidFill>
          <a:ln/>
        </p:spPr>
      </p:sp>
      <p:sp>
        <p:nvSpPr>
          <p:cNvPr id="16" name="Text 14"/>
          <p:cNvSpPr/>
          <p:nvPr/>
        </p:nvSpPr>
        <p:spPr>
          <a:xfrm>
            <a:off x="9624060" y="1965960"/>
            <a:ext cx="731520" cy="731520"/>
          </a:xfrm>
          <a:prstGeom prst="rect">
            <a:avLst/>
          </a:prstGeom>
          <a:noFill/>
          <a:ln/>
        </p:spPr>
        <p:txBody>
          <a:bodyPr wrap="square" rtlCol="0" anchor="ctr"/>
          <a:lstStyle/>
          <a:p>
            <a:pPr algn="ctr" indent="0" marL="0">
              <a:buNone/>
            </a:pPr>
            <a:r>
              <a:rPr lang="en-US" sz="2400" b="1" dirty="0">
                <a:solidFill>
                  <a:srgbClr val="FFFFFF"/>
                </a:solidFill>
              </a:rPr>
              <a:t>3</a:t>
            </a:r>
            <a:endParaRPr lang="en-US" sz="2400" dirty="0"/>
          </a:p>
        </p:txBody>
      </p:sp>
      <p:sp>
        <p:nvSpPr>
          <p:cNvPr id="17" name="Text 15"/>
          <p:cNvSpPr/>
          <p:nvPr/>
        </p:nvSpPr>
        <p:spPr>
          <a:xfrm>
            <a:off x="8412480" y="2880360"/>
            <a:ext cx="3154680" cy="457200"/>
          </a:xfrm>
          <a:prstGeom prst="rect">
            <a:avLst/>
          </a:prstGeom>
          <a:noFill/>
          <a:ln/>
        </p:spPr>
        <p:txBody>
          <a:bodyPr wrap="square" rtlCol="0" anchor="ctr"/>
          <a:lstStyle/>
          <a:p>
            <a:pPr algn="ctr" indent="0" marL="0">
              <a:buNone/>
            </a:pPr>
            <a:r>
              <a:rPr lang="en-US" sz="1700" b="1" dirty="0">
                <a:solidFill>
                  <a:srgbClr val="1B3A5C"/>
                </a:solidFill>
              </a:rPr>
              <a:t>Gradient Boosting</a:t>
            </a:r>
            <a:endParaRPr lang="en-US" sz="1700" dirty="0"/>
          </a:p>
        </p:txBody>
      </p:sp>
      <p:sp>
        <p:nvSpPr>
          <p:cNvPr id="18" name="Text 16"/>
          <p:cNvSpPr/>
          <p:nvPr/>
        </p:nvSpPr>
        <p:spPr>
          <a:xfrm>
            <a:off x="8503920" y="3429000"/>
            <a:ext cx="2971800" cy="2194560"/>
          </a:xfrm>
          <a:prstGeom prst="rect">
            <a:avLst/>
          </a:prstGeom>
          <a:noFill/>
          <a:ln/>
        </p:spPr>
        <p:txBody>
          <a:bodyPr wrap="square" rtlCol="0" anchor="ctr"/>
          <a:lstStyle/>
          <a:p>
            <a:pPr algn="ctr" indent="0" marL="0">
              <a:lnSpc>
                <a:spcPts val="1700"/>
              </a:lnSpc>
              <a:buNone/>
            </a:pPr>
            <a:r>
              <a:rPr lang="en-US" sz="1200" dirty="0">
                <a:solidFill>
                  <a:srgbClr val="5A6B7A"/>
                </a:solidFill>
              </a:rPr>
              <a:t>HistGradientBoostingRegressor (scikit-learn) - meme famille algorithmique que XGBoost, utilise en remplacement (xgboost non installable hors-ligne).</a:t>
            </a:r>
            <a:endParaRPr lang="en-US" sz="1200" dirty="0"/>
          </a:p>
        </p:txBody>
      </p:sp>
      <p:sp>
        <p:nvSpPr>
          <p:cNvPr id="19" name="Text 17"/>
          <p:cNvSpPr/>
          <p:nvPr/>
        </p:nvSpPr>
        <p:spPr>
          <a:xfrm>
            <a:off x="502920" y="6400800"/>
            <a:ext cx="5486400" cy="274320"/>
          </a:xfrm>
          <a:prstGeom prst="rect">
            <a:avLst/>
          </a:prstGeom>
          <a:noFill/>
          <a:ln/>
        </p:spPr>
        <p:txBody>
          <a:bodyPr wrap="square" rtlCol="0" anchor="ctr"/>
          <a:lstStyle/>
          <a:p>
            <a:pPr indent="0" marL="0">
              <a:buNone/>
            </a:pPr>
            <a:r>
              <a:rPr lang="en-US" sz="1000" dirty="0">
                <a:solidFill>
                  <a:srgbClr val="5A6B7A"/>
                </a:solidFill>
              </a:rPr>
              <a:t>Fouille de Donnees M1  -  Projet P19</a:t>
            </a:r>
            <a:endParaRPr lang="en-US" sz="1000" dirty="0"/>
          </a:p>
        </p:txBody>
      </p:sp>
      <p:sp>
        <p:nvSpPr>
          <p:cNvPr id="20" name="Text 18"/>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6B7A"/>
                </a:solidFill>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09728"/>
            <a:ext cx="11183112" cy="292608"/>
          </a:xfrm>
          <a:prstGeom prst="rect">
            <a:avLst/>
          </a:prstGeom>
          <a:noFill/>
          <a:ln/>
        </p:spPr>
        <p:txBody>
          <a:bodyPr wrap="square" rtlCol="0" anchor="ctr"/>
          <a:lstStyle/>
          <a:p>
            <a:pPr indent="0" marL="0">
              <a:buNone/>
            </a:pPr>
            <a:r>
              <a:rPr lang="en-US" sz="1200" b="1" spc="200" kern="0" dirty="0">
                <a:solidFill>
                  <a:srgbClr val="2E86AB"/>
                </a:solidFill>
                <a:latin typeface="Calibri" pitchFamily="34" charset="0"/>
                <a:ea typeface="Calibri" pitchFamily="34" charset="-122"/>
                <a:cs typeface="Calibri" pitchFamily="34" charset="-120"/>
              </a:rPr>
              <a:t>5. EVALUATION</a:t>
            </a:r>
            <a:endParaRPr lang="en-US" sz="1200" dirty="0"/>
          </a:p>
        </p:txBody>
      </p:sp>
      <p:sp>
        <p:nvSpPr>
          <p:cNvPr id="3" name="Text 1"/>
          <p:cNvSpPr/>
          <p:nvPr/>
        </p:nvSpPr>
        <p:spPr>
          <a:xfrm>
            <a:off x="502920" y="365760"/>
            <a:ext cx="11183112" cy="82296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Resultats chiffres : RMSE, MAE, R2</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7406640" cy="914400"/>
        </p:xfrm>
        <a:graphic>
          <a:graphicData uri="http://schemas.openxmlformats.org/drawingml/2006/table">
            <a:tbl>
              <a:tblPr/>
              <a:tblGrid>
                <a:gridCol w="1280160"/>
                <a:gridCol w="2743200"/>
                <a:gridCol w="1143000"/>
                <a:gridCol w="1143000"/>
                <a:gridCol w="1097280"/>
              </a:tblGrid>
              <a:tr h="384048">
                <a:tc>
                  <a:txBody>
                    <a:bodyPr/>
                    <a:lstStyle/>
                    <a:p>
                      <a:pPr indent="0" marL="0">
                        <a:buNone/>
                      </a:pPr>
                      <a:r>
                        <a:rPr lang="en-US" sz="1300" b="1" dirty="0">
                          <a:solidFill>
                            <a:srgbClr val="FFFFFF"/>
                          </a:solidFill>
                        </a:rPr>
                        <a:t>Denree</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1B3A5C"/>
                    </a:solidFill>
                  </a:tcPr>
                </a:tc>
                <a:tc>
                  <a:txBody>
                    <a:bodyPr/>
                    <a:lstStyle/>
                    <a:p>
                      <a:pPr indent="0" marL="0">
                        <a:buNone/>
                      </a:pPr>
                      <a:r>
                        <a:rPr lang="en-US" sz="1300" b="1" dirty="0">
                          <a:solidFill>
                            <a:srgbClr val="FFFFFF"/>
                          </a:solidFill>
                        </a:rPr>
                        <a:t>Modele</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1B3A5C"/>
                    </a:solidFill>
                  </a:tcPr>
                </a:tc>
                <a:tc>
                  <a:txBody>
                    <a:bodyPr/>
                    <a:lstStyle/>
                    <a:p>
                      <a:pPr algn="ctr" indent="0" marL="0">
                        <a:buNone/>
                      </a:pPr>
                      <a:r>
                        <a:rPr lang="en-US" sz="1300" b="1" dirty="0">
                          <a:solidFill>
                            <a:srgbClr val="FFFFFF"/>
                          </a:solidFill>
                        </a:rPr>
                        <a:t>RMSE</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1B3A5C"/>
                    </a:solidFill>
                  </a:tcPr>
                </a:tc>
                <a:tc>
                  <a:txBody>
                    <a:bodyPr/>
                    <a:lstStyle/>
                    <a:p>
                      <a:pPr algn="ctr" indent="0" marL="0">
                        <a:buNone/>
                      </a:pPr>
                      <a:r>
                        <a:rPr lang="en-US" sz="1300" b="1" dirty="0">
                          <a:solidFill>
                            <a:srgbClr val="FFFFFF"/>
                          </a:solidFill>
                        </a:rPr>
                        <a:t>MAE</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1B3A5C"/>
                    </a:solidFill>
                  </a:tcPr>
                </a:tc>
                <a:tc>
                  <a:txBody>
                    <a:bodyPr/>
                    <a:lstStyle/>
                    <a:p>
                      <a:pPr algn="ctr" indent="0" marL="0">
                        <a:buNone/>
                      </a:pPr>
                      <a:r>
                        <a:rPr lang="en-US" sz="1300" b="1" dirty="0">
                          <a:solidFill>
                            <a:srgbClr val="FFFFFF"/>
                          </a:solidFill>
                        </a:rPr>
                        <a:t>R2</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1B3A5C"/>
                    </a:solidFill>
                  </a:tcPr>
                </a:tc>
              </a:tr>
              <a:tr h="384048">
                <a:tc>
                  <a:txBody>
                    <a:bodyPr/>
                    <a:lstStyle/>
                    <a:p>
                      <a:pPr indent="0" marL="0">
                        <a:buNone/>
                      </a:pPr>
                      <a:r>
                        <a:rPr lang="en-US" sz="1300" dirty="0">
                          <a:solidFill>
                            <a:srgbClr val="000000"/>
                          </a:solidFill>
                        </a:rPr>
                        <a:t>Riz</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Holt-Winters</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321</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267</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-0,24</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000000"/>
                          </a:solidFill>
                        </a:rPr>
                        <a:t>Riz</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D6EAF8"/>
                    </a:solidFill>
                  </a:tcPr>
                </a:tc>
                <a:tc>
                  <a:txBody>
                    <a:bodyPr/>
                    <a:lstStyle/>
                    <a:p>
                      <a:pPr indent="0" marL="0">
                        <a:buNone/>
                      </a:pPr>
                      <a:r>
                        <a:rPr lang="en-US" sz="1300" b="1" dirty="0">
                          <a:solidFill>
                            <a:srgbClr val="000000"/>
                          </a:solidFill>
                        </a:rPr>
                        <a:t>Random Forest</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D6EAF8"/>
                    </a:solidFill>
                  </a:tcPr>
                </a:tc>
                <a:tc>
                  <a:txBody>
                    <a:bodyPr/>
                    <a:lstStyle/>
                    <a:p>
                      <a:pPr algn="ctr" indent="0" marL="0">
                        <a:buNone/>
                      </a:pPr>
                      <a:r>
                        <a:rPr lang="en-US" sz="1300" b="1" dirty="0">
                          <a:solidFill>
                            <a:srgbClr val="000000"/>
                          </a:solidFill>
                        </a:rPr>
                        <a:t>172</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D6EAF8"/>
                    </a:solidFill>
                  </a:tcPr>
                </a:tc>
                <a:tc>
                  <a:txBody>
                    <a:bodyPr/>
                    <a:lstStyle/>
                    <a:p>
                      <a:pPr algn="ctr" indent="0" marL="0">
                        <a:buNone/>
                      </a:pPr>
                      <a:r>
                        <a:rPr lang="en-US" sz="1300" b="1" dirty="0">
                          <a:solidFill>
                            <a:srgbClr val="000000"/>
                          </a:solidFill>
                        </a:rPr>
                        <a:t>134</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D6EAF8"/>
                    </a:solidFill>
                  </a:tcPr>
                </a:tc>
                <a:tc>
                  <a:txBody>
                    <a:bodyPr/>
                    <a:lstStyle/>
                    <a:p>
                      <a:pPr algn="ctr" indent="0" marL="0">
                        <a:buNone/>
                      </a:pPr>
                      <a:r>
                        <a:rPr lang="en-US" sz="1300" b="1" dirty="0">
                          <a:solidFill>
                            <a:srgbClr val="000000"/>
                          </a:solidFill>
                        </a:rPr>
                        <a:t>0,65</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D6EAF8"/>
                    </a:solidFill>
                  </a:tcPr>
                </a:tc>
              </a:tr>
              <a:tr h="384048">
                <a:tc>
                  <a:txBody>
                    <a:bodyPr/>
                    <a:lstStyle/>
                    <a:p>
                      <a:pPr indent="0" marL="0">
                        <a:buNone/>
                      </a:pPr>
                      <a:r>
                        <a:rPr lang="en-US" sz="1300" dirty="0">
                          <a:solidFill>
                            <a:srgbClr val="000000"/>
                          </a:solidFill>
                        </a:rPr>
                        <a:t>Riz</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Gradient Boosting</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192</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156</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0,56</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000000"/>
                          </a:solidFill>
                        </a:rPr>
                        <a:t>Huile</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7F9FB"/>
                    </a:solidFill>
                  </a:tcPr>
                </a:tc>
                <a:tc>
                  <a:txBody>
                    <a:bodyPr/>
                    <a:lstStyle/>
                    <a:p>
                      <a:pPr indent="0" marL="0">
                        <a:buNone/>
                      </a:pPr>
                      <a:r>
                        <a:rPr lang="en-US" sz="1300" dirty="0">
                          <a:solidFill>
                            <a:srgbClr val="000000"/>
                          </a:solidFill>
                        </a:rPr>
                        <a:t>Holt-Winters</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7F9FB"/>
                    </a:solidFill>
                  </a:tcPr>
                </a:tc>
                <a:tc>
                  <a:txBody>
                    <a:bodyPr/>
                    <a:lstStyle/>
                    <a:p>
                      <a:pPr algn="ctr" indent="0" marL="0">
                        <a:buNone/>
                      </a:pPr>
                      <a:r>
                        <a:rPr lang="en-US" sz="1300" dirty="0">
                          <a:solidFill>
                            <a:srgbClr val="000000"/>
                          </a:solidFill>
                        </a:rPr>
                        <a:t>642</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7F9FB"/>
                    </a:solidFill>
                  </a:tcPr>
                </a:tc>
                <a:tc>
                  <a:txBody>
                    <a:bodyPr/>
                    <a:lstStyle/>
                    <a:p>
                      <a:pPr algn="ctr" indent="0" marL="0">
                        <a:buNone/>
                      </a:pPr>
                      <a:r>
                        <a:rPr lang="en-US" sz="1300" dirty="0">
                          <a:solidFill>
                            <a:srgbClr val="000000"/>
                          </a:solidFill>
                        </a:rPr>
                        <a:t>510</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7F9FB"/>
                    </a:solidFill>
                  </a:tcPr>
                </a:tc>
                <a:tc>
                  <a:txBody>
                    <a:bodyPr/>
                    <a:lstStyle/>
                    <a:p>
                      <a:pPr algn="ctr" indent="0" marL="0">
                        <a:buNone/>
                      </a:pPr>
                      <a:r>
                        <a:rPr lang="en-US" sz="1300" dirty="0">
                          <a:solidFill>
                            <a:srgbClr val="000000"/>
                          </a:solidFill>
                        </a:rPr>
                        <a:t>-0,85</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7F9FB"/>
                    </a:solidFill>
                  </a:tcPr>
                </a:tc>
              </a:tr>
              <a:tr h="384048">
                <a:tc>
                  <a:txBody>
                    <a:bodyPr/>
                    <a:lstStyle/>
                    <a:p>
                      <a:pPr indent="0" marL="0">
                        <a:buNone/>
                      </a:pPr>
                      <a:r>
                        <a:rPr lang="en-US" sz="1300" dirty="0">
                          <a:solidFill>
                            <a:srgbClr val="000000"/>
                          </a:solidFill>
                        </a:rPr>
                        <a:t>Huile</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Random Forest</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408</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349</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0,25</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000000"/>
                          </a:solidFill>
                        </a:rPr>
                        <a:t>Huile</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D6EAF8"/>
                    </a:solidFill>
                  </a:tcPr>
                </a:tc>
                <a:tc>
                  <a:txBody>
                    <a:bodyPr/>
                    <a:lstStyle/>
                    <a:p>
                      <a:pPr indent="0" marL="0">
                        <a:buNone/>
                      </a:pPr>
                      <a:r>
                        <a:rPr lang="en-US" sz="1300" b="1" dirty="0">
                          <a:solidFill>
                            <a:srgbClr val="000000"/>
                          </a:solidFill>
                        </a:rPr>
                        <a:t>Gradient Boosting</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D6EAF8"/>
                    </a:solidFill>
                  </a:tcPr>
                </a:tc>
                <a:tc>
                  <a:txBody>
                    <a:bodyPr/>
                    <a:lstStyle/>
                    <a:p>
                      <a:pPr algn="ctr" indent="0" marL="0">
                        <a:buNone/>
                      </a:pPr>
                      <a:r>
                        <a:rPr lang="en-US" sz="1300" b="1" dirty="0">
                          <a:solidFill>
                            <a:srgbClr val="000000"/>
                          </a:solidFill>
                        </a:rPr>
                        <a:t>383</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D6EAF8"/>
                    </a:solidFill>
                  </a:tcPr>
                </a:tc>
                <a:tc>
                  <a:txBody>
                    <a:bodyPr/>
                    <a:lstStyle/>
                    <a:p>
                      <a:pPr algn="ctr" indent="0" marL="0">
                        <a:buNone/>
                      </a:pPr>
                      <a:r>
                        <a:rPr lang="en-US" sz="1300" b="1" dirty="0">
                          <a:solidFill>
                            <a:srgbClr val="000000"/>
                          </a:solidFill>
                        </a:rPr>
                        <a:t>287</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D6EAF8"/>
                    </a:solidFill>
                  </a:tcPr>
                </a:tc>
                <a:tc>
                  <a:txBody>
                    <a:bodyPr/>
                    <a:lstStyle/>
                    <a:p>
                      <a:pPr algn="ctr" indent="0" marL="0">
                        <a:buNone/>
                      </a:pPr>
                      <a:r>
                        <a:rPr lang="en-US" sz="1300" b="1" dirty="0">
                          <a:solidFill>
                            <a:srgbClr val="000000"/>
                          </a:solidFill>
                        </a:rPr>
                        <a:t>0,34</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D6EAF8"/>
                    </a:solidFill>
                  </a:tcPr>
                </a:tc>
              </a:tr>
              <a:tr h="384048">
                <a:tc>
                  <a:txBody>
                    <a:bodyPr/>
                    <a:lstStyle/>
                    <a:p>
                      <a:pPr indent="0" marL="0">
                        <a:buNone/>
                      </a:pPr>
                      <a:r>
                        <a:rPr lang="en-US" sz="1300" dirty="0">
                          <a:solidFill>
                            <a:srgbClr val="000000"/>
                          </a:solidFill>
                        </a:rPr>
                        <a:t>Sucre</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Holt-Winters</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628</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564</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-4,55</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r>
              <a:tr h="384048">
                <a:tc>
                  <a:txBody>
                    <a:bodyPr/>
                    <a:lstStyle/>
                    <a:p>
                      <a:pPr indent="0" marL="0">
                        <a:buNone/>
                      </a:pPr>
                      <a:r>
                        <a:rPr lang="en-US" sz="1300" b="1" dirty="0">
                          <a:solidFill>
                            <a:srgbClr val="000000"/>
                          </a:solidFill>
                        </a:rPr>
                        <a:t>Sucre</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D6EAF8"/>
                    </a:solidFill>
                  </a:tcPr>
                </a:tc>
                <a:tc>
                  <a:txBody>
                    <a:bodyPr/>
                    <a:lstStyle/>
                    <a:p>
                      <a:pPr indent="0" marL="0">
                        <a:buNone/>
                      </a:pPr>
                      <a:r>
                        <a:rPr lang="en-US" sz="1300" b="1" dirty="0">
                          <a:solidFill>
                            <a:srgbClr val="000000"/>
                          </a:solidFill>
                        </a:rPr>
                        <a:t>Random Forest</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D6EAF8"/>
                    </a:solidFill>
                  </a:tcPr>
                </a:tc>
                <a:tc>
                  <a:txBody>
                    <a:bodyPr/>
                    <a:lstStyle/>
                    <a:p>
                      <a:pPr algn="ctr" indent="0" marL="0">
                        <a:buNone/>
                      </a:pPr>
                      <a:r>
                        <a:rPr lang="en-US" sz="1300" b="1" dirty="0">
                          <a:solidFill>
                            <a:srgbClr val="000000"/>
                          </a:solidFill>
                        </a:rPr>
                        <a:t>208</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D6EAF8"/>
                    </a:solidFill>
                  </a:tcPr>
                </a:tc>
                <a:tc>
                  <a:txBody>
                    <a:bodyPr/>
                    <a:lstStyle/>
                    <a:p>
                      <a:pPr algn="ctr" indent="0" marL="0">
                        <a:buNone/>
                      </a:pPr>
                      <a:r>
                        <a:rPr lang="en-US" sz="1300" b="1" dirty="0">
                          <a:solidFill>
                            <a:srgbClr val="000000"/>
                          </a:solidFill>
                        </a:rPr>
                        <a:t>163</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D6EAF8"/>
                    </a:solidFill>
                  </a:tcPr>
                </a:tc>
                <a:tc>
                  <a:txBody>
                    <a:bodyPr/>
                    <a:lstStyle/>
                    <a:p>
                      <a:pPr algn="ctr" indent="0" marL="0">
                        <a:buNone/>
                      </a:pPr>
                      <a:r>
                        <a:rPr lang="en-US" sz="1300" b="1" dirty="0">
                          <a:solidFill>
                            <a:srgbClr val="000000"/>
                          </a:solidFill>
                        </a:rPr>
                        <a:t>0,39</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D6EAF8"/>
                    </a:solidFill>
                  </a:tcPr>
                </a:tc>
              </a:tr>
              <a:tr h="384048">
                <a:tc>
                  <a:txBody>
                    <a:bodyPr/>
                    <a:lstStyle/>
                    <a:p>
                      <a:pPr indent="0" marL="0">
                        <a:buNone/>
                      </a:pPr>
                      <a:r>
                        <a:rPr lang="en-US" sz="1300" dirty="0">
                          <a:solidFill>
                            <a:srgbClr val="000000"/>
                          </a:solidFill>
                        </a:rPr>
                        <a:t>Sucre</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rPr>
                        <a:t>Gradient Boosting</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237</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188</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000000"/>
                          </a:solidFill>
                        </a:rPr>
                        <a:t>0,21</a:t>
                      </a:r>
                      <a:endParaRPr lang="en-US" sz="1300" dirty="0"/>
                    </a:p>
                  </a:txBody>
                  <a:tcPr marL="91440" marR="91440" marT="45720" marB="45720">
                    <a:lnL w="6350" cap="flat" cmpd="sng" algn="ctr">
                      <a:solidFill>
                        <a:srgbClr val="DCE3E8"/>
                      </a:solidFill>
                      <a:prstDash val="solid"/>
                      <a:round/>
                      <a:headEnd type="none" w="med" len="med"/>
                      <a:tailEnd type="none" w="med" len="med"/>
                    </a:lnL>
                    <a:lnR w="6350" cap="flat" cmpd="sng" algn="ctr">
                      <a:solidFill>
                        <a:srgbClr val="DCE3E8"/>
                      </a:solidFill>
                      <a:prstDash val="solid"/>
                      <a:round/>
                      <a:headEnd type="none" w="med" len="med"/>
                      <a:tailEnd type="none" w="med" len="med"/>
                    </a:lnR>
                    <a:lnT w="6350" cap="flat" cmpd="sng" algn="ctr">
                      <a:solidFill>
                        <a:srgbClr val="DCE3E8"/>
                      </a:solidFill>
                      <a:prstDash val="solid"/>
                      <a:round/>
                      <a:headEnd type="none" w="med" len="med"/>
                      <a:tailEnd type="none" w="med" len="med"/>
                    </a:lnT>
                    <a:lnB w="6350" cap="flat" cmpd="sng" algn="ctr">
                      <a:solidFill>
                        <a:srgbClr val="DCE3E8"/>
                      </a:solidFill>
                      <a:prstDash val="solid"/>
                      <a:round/>
                      <a:headEnd type="none" w="med" len="med"/>
                      <a:tailEnd type="none" w="med" len="med"/>
                    </a:lnB>
                    <a:solidFill>
                      <a:srgbClr val="FFFFFF"/>
                    </a:solidFill>
                  </a:tcPr>
                </a:tc>
              </a:tr>
            </a:tbl>
          </a:graphicData>
        </a:graphic>
      </p:graphicFrame>
      <p:sp>
        <p:nvSpPr>
          <p:cNvPr id="5" name="Shape 2"/>
          <p:cNvSpPr/>
          <p:nvPr/>
        </p:nvSpPr>
        <p:spPr>
          <a:xfrm>
            <a:off x="8183880" y="1508760"/>
            <a:ext cx="3520440" cy="4480560"/>
          </a:xfrm>
          <a:prstGeom prst="roundRect">
            <a:avLst>
              <a:gd name="adj" fmla="val 2078"/>
            </a:avLst>
          </a:prstGeom>
          <a:solidFill>
            <a:srgbClr val="EAF1F6"/>
          </a:solidFill>
          <a:ln/>
        </p:spPr>
      </p:sp>
      <p:sp>
        <p:nvSpPr>
          <p:cNvPr id="6" name="Text 3"/>
          <p:cNvSpPr/>
          <p:nvPr/>
        </p:nvSpPr>
        <p:spPr>
          <a:xfrm>
            <a:off x="8458200" y="1737360"/>
            <a:ext cx="3017520" cy="274320"/>
          </a:xfrm>
          <a:prstGeom prst="rect">
            <a:avLst/>
          </a:prstGeom>
          <a:noFill/>
          <a:ln/>
        </p:spPr>
        <p:txBody>
          <a:bodyPr wrap="square" rtlCol="0" anchor="ctr"/>
          <a:lstStyle/>
          <a:p>
            <a:pPr indent="0" marL="0">
              <a:buNone/>
            </a:pPr>
            <a:r>
              <a:rPr lang="en-US" sz="1100" b="1" spc="100" kern="0" dirty="0">
                <a:solidFill>
                  <a:srgbClr val="1B3A5C"/>
                </a:solidFill>
              </a:rPr>
              <a:t>MEILLEUR MODELE</a:t>
            </a:r>
            <a:endParaRPr lang="en-US" sz="1100" dirty="0"/>
          </a:p>
        </p:txBody>
      </p:sp>
      <p:sp>
        <p:nvSpPr>
          <p:cNvPr id="7" name="Shape 4"/>
          <p:cNvSpPr/>
          <p:nvPr/>
        </p:nvSpPr>
        <p:spPr>
          <a:xfrm>
            <a:off x="8458200" y="2194560"/>
            <a:ext cx="128016" cy="128016"/>
          </a:xfrm>
          <a:prstGeom prst="ellipse">
            <a:avLst/>
          </a:prstGeom>
          <a:solidFill>
            <a:srgbClr val="2E86AB"/>
          </a:solidFill>
          <a:ln/>
        </p:spPr>
      </p:sp>
      <p:sp>
        <p:nvSpPr>
          <p:cNvPr id="8" name="Text 5"/>
          <p:cNvSpPr/>
          <p:nvPr/>
        </p:nvSpPr>
        <p:spPr>
          <a:xfrm>
            <a:off x="8732520" y="2148840"/>
            <a:ext cx="2834640" cy="274320"/>
          </a:xfrm>
          <a:prstGeom prst="rect">
            <a:avLst/>
          </a:prstGeom>
          <a:noFill/>
          <a:ln/>
        </p:spPr>
        <p:txBody>
          <a:bodyPr wrap="square" rtlCol="0" anchor="ctr"/>
          <a:lstStyle/>
          <a:p>
            <a:pPr indent="0" marL="0">
              <a:buNone/>
            </a:pPr>
            <a:r>
              <a:rPr lang="en-US" sz="1300" b="1" dirty="0">
                <a:solidFill>
                  <a:srgbClr val="1B3A5C"/>
                </a:solidFill>
              </a:rPr>
              <a:t>Riz - Random Forest</a:t>
            </a:r>
            <a:endParaRPr lang="en-US" sz="1300" dirty="0"/>
          </a:p>
        </p:txBody>
      </p:sp>
      <p:sp>
        <p:nvSpPr>
          <p:cNvPr id="9" name="Text 6"/>
          <p:cNvSpPr/>
          <p:nvPr/>
        </p:nvSpPr>
        <p:spPr>
          <a:xfrm>
            <a:off x="8732520" y="2423160"/>
            <a:ext cx="2834640" cy="274320"/>
          </a:xfrm>
          <a:prstGeom prst="rect">
            <a:avLst/>
          </a:prstGeom>
          <a:noFill/>
          <a:ln/>
        </p:spPr>
        <p:txBody>
          <a:bodyPr wrap="square" rtlCol="0" anchor="ctr"/>
          <a:lstStyle/>
          <a:p>
            <a:pPr indent="0" marL="0">
              <a:buNone/>
            </a:pPr>
            <a:r>
              <a:rPr lang="en-US" sz="1200" dirty="0">
                <a:solidFill>
                  <a:srgbClr val="5A6B7A"/>
                </a:solidFill>
              </a:rPr>
              <a:t>R2 = 0,65</a:t>
            </a:r>
            <a:endParaRPr lang="en-US" sz="1200" dirty="0"/>
          </a:p>
        </p:txBody>
      </p:sp>
      <p:sp>
        <p:nvSpPr>
          <p:cNvPr id="10" name="Shape 7"/>
          <p:cNvSpPr/>
          <p:nvPr/>
        </p:nvSpPr>
        <p:spPr>
          <a:xfrm>
            <a:off x="8458200" y="3063240"/>
            <a:ext cx="128016" cy="128016"/>
          </a:xfrm>
          <a:prstGeom prst="ellipse">
            <a:avLst/>
          </a:prstGeom>
          <a:solidFill>
            <a:srgbClr val="E67E22"/>
          </a:solidFill>
          <a:ln/>
        </p:spPr>
      </p:sp>
      <p:sp>
        <p:nvSpPr>
          <p:cNvPr id="11" name="Text 8"/>
          <p:cNvSpPr/>
          <p:nvPr/>
        </p:nvSpPr>
        <p:spPr>
          <a:xfrm>
            <a:off x="8732520" y="3017520"/>
            <a:ext cx="2834640" cy="274320"/>
          </a:xfrm>
          <a:prstGeom prst="rect">
            <a:avLst/>
          </a:prstGeom>
          <a:noFill/>
          <a:ln/>
        </p:spPr>
        <p:txBody>
          <a:bodyPr wrap="square" rtlCol="0" anchor="ctr"/>
          <a:lstStyle/>
          <a:p>
            <a:pPr indent="0" marL="0">
              <a:buNone/>
            </a:pPr>
            <a:r>
              <a:rPr lang="en-US" sz="1300" b="1" dirty="0">
                <a:solidFill>
                  <a:srgbClr val="1B3A5C"/>
                </a:solidFill>
              </a:rPr>
              <a:t>Huile - Gradient Boosting</a:t>
            </a:r>
            <a:endParaRPr lang="en-US" sz="1300" dirty="0"/>
          </a:p>
        </p:txBody>
      </p:sp>
      <p:sp>
        <p:nvSpPr>
          <p:cNvPr id="12" name="Text 9"/>
          <p:cNvSpPr/>
          <p:nvPr/>
        </p:nvSpPr>
        <p:spPr>
          <a:xfrm>
            <a:off x="8732520" y="3291840"/>
            <a:ext cx="2834640" cy="274320"/>
          </a:xfrm>
          <a:prstGeom prst="rect">
            <a:avLst/>
          </a:prstGeom>
          <a:noFill/>
          <a:ln/>
        </p:spPr>
        <p:txBody>
          <a:bodyPr wrap="square" rtlCol="0" anchor="ctr"/>
          <a:lstStyle/>
          <a:p>
            <a:pPr indent="0" marL="0">
              <a:buNone/>
            </a:pPr>
            <a:r>
              <a:rPr lang="en-US" sz="1200" dirty="0">
                <a:solidFill>
                  <a:srgbClr val="5A6B7A"/>
                </a:solidFill>
              </a:rPr>
              <a:t>R2 = 0,34</a:t>
            </a:r>
            <a:endParaRPr lang="en-US" sz="1200" dirty="0"/>
          </a:p>
        </p:txBody>
      </p:sp>
      <p:sp>
        <p:nvSpPr>
          <p:cNvPr id="13" name="Shape 10"/>
          <p:cNvSpPr/>
          <p:nvPr/>
        </p:nvSpPr>
        <p:spPr>
          <a:xfrm>
            <a:off x="8458200" y="3931920"/>
            <a:ext cx="128016" cy="128016"/>
          </a:xfrm>
          <a:prstGeom prst="ellipse">
            <a:avLst/>
          </a:prstGeom>
          <a:solidFill>
            <a:srgbClr val="27AE60"/>
          </a:solidFill>
          <a:ln/>
        </p:spPr>
      </p:sp>
      <p:sp>
        <p:nvSpPr>
          <p:cNvPr id="14" name="Text 11"/>
          <p:cNvSpPr/>
          <p:nvPr/>
        </p:nvSpPr>
        <p:spPr>
          <a:xfrm>
            <a:off x="8732520" y="3886200"/>
            <a:ext cx="2834640" cy="274320"/>
          </a:xfrm>
          <a:prstGeom prst="rect">
            <a:avLst/>
          </a:prstGeom>
          <a:noFill/>
          <a:ln/>
        </p:spPr>
        <p:txBody>
          <a:bodyPr wrap="square" rtlCol="0" anchor="ctr"/>
          <a:lstStyle/>
          <a:p>
            <a:pPr indent="0" marL="0">
              <a:buNone/>
            </a:pPr>
            <a:r>
              <a:rPr lang="en-US" sz="1300" b="1" dirty="0">
                <a:solidFill>
                  <a:srgbClr val="1B3A5C"/>
                </a:solidFill>
              </a:rPr>
              <a:t>Sucre - Random Forest</a:t>
            </a:r>
            <a:endParaRPr lang="en-US" sz="1300" dirty="0"/>
          </a:p>
        </p:txBody>
      </p:sp>
      <p:sp>
        <p:nvSpPr>
          <p:cNvPr id="15" name="Text 12"/>
          <p:cNvSpPr/>
          <p:nvPr/>
        </p:nvSpPr>
        <p:spPr>
          <a:xfrm>
            <a:off x="8732520" y="4160520"/>
            <a:ext cx="2834640" cy="274320"/>
          </a:xfrm>
          <a:prstGeom prst="rect">
            <a:avLst/>
          </a:prstGeom>
          <a:noFill/>
          <a:ln/>
        </p:spPr>
        <p:txBody>
          <a:bodyPr wrap="square" rtlCol="0" anchor="ctr"/>
          <a:lstStyle/>
          <a:p>
            <a:pPr indent="0" marL="0">
              <a:buNone/>
            </a:pPr>
            <a:r>
              <a:rPr lang="en-US" sz="1200" dirty="0">
                <a:solidFill>
                  <a:srgbClr val="5A6B7A"/>
                </a:solidFill>
              </a:rPr>
              <a:t>R2 = 0,39</a:t>
            </a:r>
            <a:endParaRPr lang="en-US" sz="1200" dirty="0"/>
          </a:p>
        </p:txBody>
      </p:sp>
      <p:sp>
        <p:nvSpPr>
          <p:cNvPr id="16" name="Text 13"/>
          <p:cNvSpPr/>
          <p:nvPr/>
        </p:nvSpPr>
        <p:spPr>
          <a:xfrm>
            <a:off x="502920" y="6400800"/>
            <a:ext cx="5486400" cy="274320"/>
          </a:xfrm>
          <a:prstGeom prst="rect">
            <a:avLst/>
          </a:prstGeom>
          <a:noFill/>
          <a:ln/>
        </p:spPr>
        <p:txBody>
          <a:bodyPr wrap="square" rtlCol="0" anchor="ctr"/>
          <a:lstStyle/>
          <a:p>
            <a:pPr indent="0" marL="0">
              <a:buNone/>
            </a:pPr>
            <a:r>
              <a:rPr lang="en-US" sz="1000" dirty="0">
                <a:solidFill>
                  <a:srgbClr val="5A6B7A"/>
                </a:solidFill>
              </a:rPr>
              <a:t>Fouille de Donnees M1  -  Projet P19</a:t>
            </a:r>
            <a:endParaRPr lang="en-US" sz="1000" dirty="0"/>
          </a:p>
        </p:txBody>
      </p:sp>
      <p:sp>
        <p:nvSpPr>
          <p:cNvPr id="17" name="Text 14"/>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6B7A"/>
                </a:solidFill>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09728"/>
            <a:ext cx="11183112" cy="292608"/>
          </a:xfrm>
          <a:prstGeom prst="rect">
            <a:avLst/>
          </a:prstGeom>
          <a:noFill/>
          <a:ln/>
        </p:spPr>
        <p:txBody>
          <a:bodyPr wrap="square" rtlCol="0" anchor="ctr"/>
          <a:lstStyle/>
          <a:p>
            <a:pPr indent="0" marL="0">
              <a:buNone/>
            </a:pPr>
            <a:r>
              <a:rPr lang="en-US" sz="1200" b="1" spc="200" kern="0" dirty="0">
                <a:solidFill>
                  <a:srgbClr val="2E86AB"/>
                </a:solidFill>
                <a:latin typeface="Calibri" pitchFamily="34" charset="0"/>
                <a:ea typeface="Calibri" pitchFamily="34" charset="-122"/>
                <a:cs typeface="Calibri" pitchFamily="34" charset="-120"/>
              </a:rPr>
              <a:t>5. EVALUATION</a:t>
            </a:r>
            <a:endParaRPr lang="en-US" sz="1200" dirty="0"/>
          </a:p>
        </p:txBody>
      </p:sp>
      <p:sp>
        <p:nvSpPr>
          <p:cNvPr id="3" name="Text 1"/>
          <p:cNvSpPr/>
          <p:nvPr/>
        </p:nvSpPr>
        <p:spPr>
          <a:xfrm>
            <a:off x="502920" y="365760"/>
            <a:ext cx="11183112" cy="82296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Prevision vs realise sur la periode de test</a:t>
            </a:r>
            <a:endParaRPr lang="en-US" sz="3000" dirty="0"/>
          </a:p>
        </p:txBody>
      </p:sp>
      <p:pic>
        <p:nvPicPr>
          <p:cNvPr id="4" name="Image 0" descr="/home/claude/p19/figures/previsions_vs_reel.png">    </p:cNvPr>
          <p:cNvPicPr>
            <a:picLocks noChangeAspect="1"/>
          </p:cNvPicPr>
          <p:nvPr/>
        </p:nvPicPr>
        <p:blipFill>
          <a:blip r:embed="rId1"/>
          <a:stretch>
            <a:fillRect/>
          </a:stretch>
        </p:blipFill>
        <p:spPr>
          <a:xfrm>
            <a:off x="3337560" y="1234440"/>
            <a:ext cx="5486400" cy="5486400"/>
          </a:xfrm>
          <a:prstGeom prst="rect">
            <a:avLst/>
          </a:prstGeom>
        </p:spPr>
      </p:pic>
      <p:sp>
        <p:nvSpPr>
          <p:cNvPr id="5" name="Text 2"/>
          <p:cNvSpPr/>
          <p:nvPr/>
        </p:nvSpPr>
        <p:spPr>
          <a:xfrm>
            <a:off x="502920" y="2743200"/>
            <a:ext cx="2651760" cy="2286000"/>
          </a:xfrm>
          <a:prstGeom prst="rect">
            <a:avLst/>
          </a:prstGeom>
          <a:noFill/>
          <a:ln/>
        </p:spPr>
        <p:txBody>
          <a:bodyPr wrap="square" rtlCol="0" anchor="ctr"/>
          <a:lstStyle/>
          <a:p>
            <a:pPr indent="0" marL="0">
              <a:lnSpc>
                <a:spcPts val="1900"/>
              </a:lnSpc>
              <a:buNone/>
            </a:pPr>
            <a:r>
              <a:rPr lang="en-US" sz="1300" dirty="0">
                <a:solidFill>
                  <a:srgbClr val="2A2A2A"/>
                </a:solidFill>
              </a:rPr>
              <a:t>Les modeles a base d'arbres (Random Forest, Gradient Boosting) suivent de pres les a-coups reels, tandis que Holt-Winters, purement extrapolatif, manque les chocs non periodiques (COVID, Ukraine, carburant).</a:t>
            </a:r>
            <a:endParaRPr lang="en-US" sz="1300" dirty="0"/>
          </a:p>
        </p:txBody>
      </p:sp>
      <p:sp>
        <p:nvSpPr>
          <p:cNvPr id="6" name="Text 3"/>
          <p:cNvSpPr/>
          <p:nvPr/>
        </p:nvSpPr>
        <p:spPr>
          <a:xfrm>
            <a:off x="502920" y="6400800"/>
            <a:ext cx="5486400" cy="274320"/>
          </a:xfrm>
          <a:prstGeom prst="rect">
            <a:avLst/>
          </a:prstGeom>
          <a:noFill/>
          <a:ln/>
        </p:spPr>
        <p:txBody>
          <a:bodyPr wrap="square" rtlCol="0" anchor="ctr"/>
          <a:lstStyle/>
          <a:p>
            <a:pPr indent="0" marL="0">
              <a:buNone/>
            </a:pPr>
            <a:r>
              <a:rPr lang="en-US" sz="1000" dirty="0">
                <a:solidFill>
                  <a:srgbClr val="5A6B7A"/>
                </a:solidFill>
              </a:rPr>
              <a:t>Fouille de Donnees M1  -  Projet P19</a:t>
            </a:r>
            <a:endParaRPr lang="en-US" sz="1000" dirty="0"/>
          </a:p>
        </p:txBody>
      </p:sp>
      <p:sp>
        <p:nvSpPr>
          <p:cNvPr id="7" name="Text 4"/>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6B7A"/>
                </a:solidFill>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09728"/>
            <a:ext cx="11183112" cy="292608"/>
          </a:xfrm>
          <a:prstGeom prst="rect">
            <a:avLst/>
          </a:prstGeom>
          <a:noFill/>
          <a:ln/>
        </p:spPr>
        <p:txBody>
          <a:bodyPr wrap="square" rtlCol="0" anchor="ctr"/>
          <a:lstStyle/>
          <a:p>
            <a:pPr indent="0" marL="0">
              <a:buNone/>
            </a:pPr>
            <a:r>
              <a:rPr lang="en-US" sz="1200" b="1" spc="200" kern="0" dirty="0">
                <a:solidFill>
                  <a:srgbClr val="2E86AB"/>
                </a:solidFill>
                <a:latin typeface="Calibri" pitchFamily="34" charset="0"/>
                <a:ea typeface="Calibri" pitchFamily="34" charset="-122"/>
                <a:cs typeface="Calibri" pitchFamily="34" charset="-120"/>
              </a:rPr>
              <a:t>5. EVALUATION &amp; 8. DEPLOIEMENT</a:t>
            </a:r>
            <a:endParaRPr lang="en-US" sz="1200" dirty="0"/>
          </a:p>
        </p:txBody>
      </p:sp>
      <p:sp>
        <p:nvSpPr>
          <p:cNvPr id="3" name="Text 1"/>
          <p:cNvSpPr/>
          <p:nvPr/>
        </p:nvSpPr>
        <p:spPr>
          <a:xfrm>
            <a:off x="502920" y="365760"/>
            <a:ext cx="11183112" cy="82296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Variables explicatives  &amp;  demonstration de l'application</a:t>
            </a:r>
            <a:endParaRPr lang="en-US" sz="3000" dirty="0"/>
          </a:p>
        </p:txBody>
      </p:sp>
      <p:pic>
        <p:nvPicPr>
          <p:cNvPr id="4" name="Image 0" descr="/home/claude/p19/figures/importance_variables.png">    </p:cNvPr>
          <p:cNvPicPr>
            <a:picLocks noChangeAspect="1"/>
          </p:cNvPicPr>
          <p:nvPr/>
        </p:nvPicPr>
        <p:blipFill>
          <a:blip r:embed="rId1"/>
          <a:stretch>
            <a:fillRect/>
          </a:stretch>
        </p:blipFill>
        <p:spPr>
          <a:xfrm>
            <a:off x="502920" y="1417320"/>
            <a:ext cx="7040880" cy="2148840"/>
          </a:xfrm>
          <a:prstGeom prst="rect">
            <a:avLst/>
          </a:prstGeom>
        </p:spPr>
      </p:pic>
      <p:sp>
        <p:nvSpPr>
          <p:cNvPr id="5" name="Text 2"/>
          <p:cNvSpPr/>
          <p:nvPr/>
        </p:nvSpPr>
        <p:spPr>
          <a:xfrm>
            <a:off x="502920" y="3703320"/>
            <a:ext cx="7040880" cy="822960"/>
          </a:xfrm>
          <a:prstGeom prst="rect">
            <a:avLst/>
          </a:prstGeom>
          <a:noFill/>
          <a:ln/>
        </p:spPr>
        <p:txBody>
          <a:bodyPr wrap="square" rtlCol="0" anchor="ctr"/>
          <a:lstStyle/>
          <a:p>
            <a:pPr indent="0" marL="0">
              <a:lnSpc>
                <a:spcPts val="1700"/>
              </a:lnSpc>
              <a:buNone/>
            </a:pPr>
            <a:r>
              <a:rPr lang="en-US" sz="1250" dirty="0">
                <a:solidFill>
                  <a:srgbClr val="5A6B7A"/>
                </a:solidFill>
              </a:rPr>
              <a:t>Le prix de la semaine precedente (lag_1) domine pour les trois denrees, suivi de l'effet saisonnier annuel (lag_52) et de la volatilite recente (roll_std_4).</a:t>
            </a:r>
            <a:endParaRPr lang="en-US" sz="1250" dirty="0"/>
          </a:p>
        </p:txBody>
      </p:sp>
      <p:sp>
        <p:nvSpPr>
          <p:cNvPr id="6" name="Shape 3"/>
          <p:cNvSpPr/>
          <p:nvPr/>
        </p:nvSpPr>
        <p:spPr>
          <a:xfrm>
            <a:off x="7818120" y="1417320"/>
            <a:ext cx="3886200" cy="4572000"/>
          </a:xfrm>
          <a:prstGeom prst="roundRect">
            <a:avLst>
              <a:gd name="adj" fmla="val 1882"/>
            </a:avLst>
          </a:prstGeom>
          <a:solidFill>
            <a:srgbClr val="1B3A5C"/>
          </a:solidFill>
          <a:ln/>
        </p:spPr>
      </p:sp>
      <p:sp>
        <p:nvSpPr>
          <p:cNvPr id="7" name="Text 4"/>
          <p:cNvSpPr/>
          <p:nvPr/>
        </p:nvSpPr>
        <p:spPr>
          <a:xfrm>
            <a:off x="8092440" y="1645920"/>
            <a:ext cx="3383280" cy="274320"/>
          </a:xfrm>
          <a:prstGeom prst="rect">
            <a:avLst/>
          </a:prstGeom>
          <a:noFill/>
          <a:ln/>
        </p:spPr>
        <p:txBody>
          <a:bodyPr wrap="square" rtlCol="0" anchor="ctr"/>
          <a:lstStyle/>
          <a:p>
            <a:pPr indent="0" marL="0">
              <a:buNone/>
            </a:pPr>
            <a:r>
              <a:rPr lang="en-US" sz="1100" b="1" spc="100" kern="0" dirty="0">
                <a:solidFill>
                  <a:srgbClr val="9FB8CC"/>
                </a:solidFill>
              </a:rPr>
              <a:t>APPLICATION STREAMLIT</a:t>
            </a:r>
            <a:endParaRPr lang="en-US" sz="1100" dirty="0"/>
          </a:p>
        </p:txBody>
      </p:sp>
      <p:sp>
        <p:nvSpPr>
          <p:cNvPr id="8" name="Text 5"/>
          <p:cNvSpPr/>
          <p:nvPr/>
        </p:nvSpPr>
        <p:spPr>
          <a:xfrm>
            <a:off x="8092440" y="2011680"/>
            <a:ext cx="3383280" cy="320040"/>
          </a:xfrm>
          <a:prstGeom prst="rect">
            <a:avLst/>
          </a:prstGeom>
          <a:noFill/>
          <a:ln/>
        </p:spPr>
        <p:txBody>
          <a:bodyPr wrap="square" rtlCol="0" anchor="ctr"/>
          <a:lstStyle/>
          <a:p>
            <a:pPr indent="0" marL="0">
              <a:buNone/>
            </a:pPr>
            <a:r>
              <a:rPr lang="en-US" sz="1300" b="1" dirty="0">
                <a:solidFill>
                  <a:srgbClr val="FFFFFF"/>
                </a:solidFill>
              </a:rPr>
              <a:t>Deploiement minimal du projet :</a:t>
            </a:r>
            <a:endParaRPr lang="en-US" sz="1300" dirty="0"/>
          </a:p>
        </p:txBody>
      </p:sp>
      <p:sp>
        <p:nvSpPr>
          <p:cNvPr id="9" name="Shape 6"/>
          <p:cNvSpPr/>
          <p:nvPr/>
        </p:nvSpPr>
        <p:spPr>
          <a:xfrm>
            <a:off x="8092440" y="2523744"/>
            <a:ext cx="91440" cy="91440"/>
          </a:xfrm>
          <a:prstGeom prst="ellipse">
            <a:avLst/>
          </a:prstGeom>
          <a:solidFill>
            <a:srgbClr val="E67E22"/>
          </a:solidFill>
          <a:ln/>
        </p:spPr>
      </p:sp>
      <p:sp>
        <p:nvSpPr>
          <p:cNvPr id="10" name="Text 7"/>
          <p:cNvSpPr/>
          <p:nvPr/>
        </p:nvSpPr>
        <p:spPr>
          <a:xfrm>
            <a:off x="8321040" y="2468880"/>
            <a:ext cx="3108960" cy="365760"/>
          </a:xfrm>
          <a:prstGeom prst="rect">
            <a:avLst/>
          </a:prstGeom>
          <a:noFill/>
          <a:ln/>
        </p:spPr>
        <p:txBody>
          <a:bodyPr wrap="square" rtlCol="0" anchor="ctr"/>
          <a:lstStyle/>
          <a:p>
            <a:pPr indent="0" marL="0">
              <a:lnSpc>
                <a:spcPts val="1600"/>
              </a:lnSpc>
              <a:buNone/>
            </a:pPr>
            <a:r>
              <a:rPr lang="en-US" sz="1250" dirty="0">
                <a:solidFill>
                  <a:srgbClr val="E4ECF3"/>
                </a:solidFill>
              </a:rPr>
              <a:t>Choix denree + horizon (1-12 sem.)</a:t>
            </a:r>
            <a:endParaRPr lang="en-US" sz="1250" dirty="0"/>
          </a:p>
        </p:txBody>
      </p:sp>
      <p:sp>
        <p:nvSpPr>
          <p:cNvPr id="11" name="Shape 8"/>
          <p:cNvSpPr/>
          <p:nvPr/>
        </p:nvSpPr>
        <p:spPr>
          <a:xfrm>
            <a:off x="8092440" y="3026664"/>
            <a:ext cx="91440" cy="91440"/>
          </a:xfrm>
          <a:prstGeom prst="ellipse">
            <a:avLst/>
          </a:prstGeom>
          <a:solidFill>
            <a:srgbClr val="E67E22"/>
          </a:solidFill>
          <a:ln/>
        </p:spPr>
      </p:sp>
      <p:sp>
        <p:nvSpPr>
          <p:cNvPr id="12" name="Text 9"/>
          <p:cNvSpPr/>
          <p:nvPr/>
        </p:nvSpPr>
        <p:spPr>
          <a:xfrm>
            <a:off x="8321040" y="2971800"/>
            <a:ext cx="3108960" cy="365760"/>
          </a:xfrm>
          <a:prstGeom prst="rect">
            <a:avLst/>
          </a:prstGeom>
          <a:noFill/>
          <a:ln/>
        </p:spPr>
        <p:txBody>
          <a:bodyPr wrap="square" rtlCol="0" anchor="ctr"/>
          <a:lstStyle/>
          <a:p>
            <a:pPr indent="0" marL="0">
              <a:lnSpc>
                <a:spcPts val="1600"/>
              </a:lnSpc>
              <a:buNone/>
            </a:pPr>
            <a:r>
              <a:rPr lang="en-US" sz="1250" dirty="0">
                <a:solidFill>
                  <a:srgbClr val="E4ECF3"/>
                </a:solidFill>
              </a:rPr>
              <a:t>Courbe historique + prevision</a:t>
            </a:r>
            <a:endParaRPr lang="en-US" sz="1250" dirty="0"/>
          </a:p>
        </p:txBody>
      </p:sp>
      <p:sp>
        <p:nvSpPr>
          <p:cNvPr id="13" name="Shape 10"/>
          <p:cNvSpPr/>
          <p:nvPr/>
        </p:nvSpPr>
        <p:spPr>
          <a:xfrm>
            <a:off x="8092440" y="3529584"/>
            <a:ext cx="91440" cy="91440"/>
          </a:xfrm>
          <a:prstGeom prst="ellipse">
            <a:avLst/>
          </a:prstGeom>
          <a:solidFill>
            <a:srgbClr val="E67E22"/>
          </a:solidFill>
          <a:ln/>
        </p:spPr>
      </p:sp>
      <p:sp>
        <p:nvSpPr>
          <p:cNvPr id="14" name="Text 11"/>
          <p:cNvSpPr/>
          <p:nvPr/>
        </p:nvSpPr>
        <p:spPr>
          <a:xfrm>
            <a:off x="8321040" y="3474720"/>
            <a:ext cx="3108960" cy="365760"/>
          </a:xfrm>
          <a:prstGeom prst="rect">
            <a:avLst/>
          </a:prstGeom>
          <a:noFill/>
          <a:ln/>
        </p:spPr>
        <p:txBody>
          <a:bodyPr wrap="square" rtlCol="0" anchor="ctr"/>
          <a:lstStyle/>
          <a:p>
            <a:pPr indent="0" marL="0">
              <a:lnSpc>
                <a:spcPts val="1600"/>
              </a:lnSpc>
              <a:buNone/>
            </a:pPr>
            <a:r>
              <a:rPr lang="en-US" sz="1250" dirty="0">
                <a:solidFill>
                  <a:srgbClr val="E4ECF3"/>
                </a:solidFill>
              </a:rPr>
              <a:t>Comparaison des 3 modeles</a:t>
            </a:r>
            <a:endParaRPr lang="en-US" sz="1250" dirty="0"/>
          </a:p>
        </p:txBody>
      </p:sp>
      <p:sp>
        <p:nvSpPr>
          <p:cNvPr id="15" name="Shape 12"/>
          <p:cNvSpPr/>
          <p:nvPr/>
        </p:nvSpPr>
        <p:spPr>
          <a:xfrm>
            <a:off x="8092440" y="4032504"/>
            <a:ext cx="91440" cy="91440"/>
          </a:xfrm>
          <a:prstGeom prst="ellipse">
            <a:avLst/>
          </a:prstGeom>
          <a:solidFill>
            <a:srgbClr val="E67E22"/>
          </a:solidFill>
          <a:ln/>
        </p:spPr>
      </p:sp>
      <p:sp>
        <p:nvSpPr>
          <p:cNvPr id="16" name="Text 13"/>
          <p:cNvSpPr/>
          <p:nvPr/>
        </p:nvSpPr>
        <p:spPr>
          <a:xfrm>
            <a:off x="8321040" y="3977640"/>
            <a:ext cx="3108960" cy="365760"/>
          </a:xfrm>
          <a:prstGeom prst="rect">
            <a:avLst/>
          </a:prstGeom>
          <a:noFill/>
          <a:ln/>
        </p:spPr>
        <p:txBody>
          <a:bodyPr wrap="square" rtlCol="0" anchor="ctr"/>
          <a:lstStyle/>
          <a:p>
            <a:pPr indent="0" marL="0">
              <a:lnSpc>
                <a:spcPts val="1600"/>
              </a:lnSpc>
              <a:buNone/>
            </a:pPr>
            <a:r>
              <a:rPr lang="en-US" sz="1250" dirty="0">
                <a:solidFill>
                  <a:srgbClr val="E4ECF3"/>
                </a:solidFill>
              </a:rPr>
              <a:t>Export CSV des previsions</a:t>
            </a:r>
            <a:endParaRPr lang="en-US" sz="1250" dirty="0"/>
          </a:p>
        </p:txBody>
      </p:sp>
      <p:sp>
        <p:nvSpPr>
          <p:cNvPr id="17" name="Shape 14"/>
          <p:cNvSpPr/>
          <p:nvPr/>
        </p:nvSpPr>
        <p:spPr>
          <a:xfrm>
            <a:off x="8092440" y="4709160"/>
            <a:ext cx="3246120" cy="0"/>
          </a:xfrm>
          <a:prstGeom prst="line">
            <a:avLst/>
          </a:prstGeom>
          <a:noFill/>
          <a:ln w="12700">
            <a:solidFill>
              <a:srgbClr val="3A5A78"/>
            </a:solidFill>
            <a:prstDash val="solid"/>
          </a:ln>
        </p:spPr>
      </p:sp>
      <p:sp>
        <p:nvSpPr>
          <p:cNvPr id="18" name="Text 15"/>
          <p:cNvSpPr/>
          <p:nvPr/>
        </p:nvSpPr>
        <p:spPr>
          <a:xfrm>
            <a:off x="8092440" y="4892040"/>
            <a:ext cx="3246120" cy="365760"/>
          </a:xfrm>
          <a:prstGeom prst="rect">
            <a:avLst/>
          </a:prstGeom>
          <a:noFill/>
          <a:ln/>
        </p:spPr>
        <p:txBody>
          <a:bodyPr wrap="square" rtlCol="0" anchor="ctr"/>
          <a:lstStyle/>
          <a:p>
            <a:pPr indent="0" marL="0">
              <a:buNone/>
            </a:pPr>
            <a:r>
              <a:rPr lang="en-US" sz="1200" dirty="0">
                <a:solidFill>
                  <a:srgbClr val="7FE0B0"/>
                </a:solidFill>
                <a:latin typeface="Courier New" pitchFamily="34" charset="0"/>
                <a:ea typeface="Courier New" pitchFamily="34" charset="-122"/>
                <a:cs typeface="Courier New" pitchFamily="34" charset="-120"/>
              </a:rPr>
              <a:t>streamlit run app/app.py</a:t>
            </a:r>
            <a:endParaRPr lang="en-US" sz="1200" dirty="0"/>
          </a:p>
        </p:txBody>
      </p:sp>
      <p:sp>
        <p:nvSpPr>
          <p:cNvPr id="19" name="Text 16"/>
          <p:cNvSpPr/>
          <p:nvPr/>
        </p:nvSpPr>
        <p:spPr>
          <a:xfrm>
            <a:off x="502920" y="6400800"/>
            <a:ext cx="5486400" cy="274320"/>
          </a:xfrm>
          <a:prstGeom prst="rect">
            <a:avLst/>
          </a:prstGeom>
          <a:noFill/>
          <a:ln/>
        </p:spPr>
        <p:txBody>
          <a:bodyPr wrap="square" rtlCol="0" anchor="ctr"/>
          <a:lstStyle/>
          <a:p>
            <a:pPr indent="0" marL="0">
              <a:buNone/>
            </a:pPr>
            <a:r>
              <a:rPr lang="en-US" sz="1000" dirty="0">
                <a:solidFill>
                  <a:srgbClr val="5A6B7A"/>
                </a:solidFill>
              </a:rPr>
              <a:t>Fouille de Donnees M1  -  Projet P19</a:t>
            </a:r>
            <a:endParaRPr lang="en-US" sz="1000" dirty="0"/>
          </a:p>
        </p:txBody>
      </p:sp>
      <p:sp>
        <p:nvSpPr>
          <p:cNvPr id="20" name="Text 17"/>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6B7A"/>
                </a:solidFill>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09728"/>
            <a:ext cx="11183112" cy="292608"/>
          </a:xfrm>
          <a:prstGeom prst="rect">
            <a:avLst/>
          </a:prstGeom>
          <a:noFill/>
          <a:ln/>
        </p:spPr>
        <p:txBody>
          <a:bodyPr wrap="square" rtlCol="0" anchor="ctr"/>
          <a:lstStyle/>
          <a:p>
            <a:pPr indent="0" marL="0">
              <a:buNone/>
            </a:pPr>
            <a:r>
              <a:rPr lang="en-US" sz="1200" b="1" spc="200" kern="0" dirty="0">
                <a:solidFill>
                  <a:srgbClr val="2E86AB"/>
                </a:solidFill>
                <a:latin typeface="Calibri" pitchFamily="34" charset="0"/>
                <a:ea typeface="Calibri" pitchFamily="34" charset="-122"/>
                <a:cs typeface="Calibri" pitchFamily="34" charset="-120"/>
              </a:rPr>
              <a:t>5. EVALUATION</a:t>
            </a:r>
            <a:endParaRPr lang="en-US" sz="1200" dirty="0"/>
          </a:p>
        </p:txBody>
      </p:sp>
      <p:sp>
        <p:nvSpPr>
          <p:cNvPr id="3" name="Text 1"/>
          <p:cNvSpPr/>
          <p:nvPr/>
        </p:nvSpPr>
        <p:spPr>
          <a:xfrm>
            <a:off x="502920" y="365760"/>
            <a:ext cx="11183112" cy="82296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Prevision a 12 semaines (janvier - mars 2025)</a:t>
            </a:r>
            <a:endParaRPr lang="en-US" sz="3000" dirty="0"/>
          </a:p>
        </p:txBody>
      </p:sp>
      <p:pic>
        <p:nvPicPr>
          <p:cNvPr id="4" name="Image 0" descr="/home/claude/p19/figures/prevision_future.png">    </p:cNvPr>
          <p:cNvPicPr>
            <a:picLocks noChangeAspect="1"/>
          </p:cNvPicPr>
          <p:nvPr/>
        </p:nvPicPr>
        <p:blipFill>
          <a:blip r:embed="rId1"/>
          <a:stretch>
            <a:fillRect/>
          </a:stretch>
        </p:blipFill>
        <p:spPr>
          <a:xfrm>
            <a:off x="3749040" y="1188720"/>
            <a:ext cx="4754880" cy="4297680"/>
          </a:xfrm>
          <a:prstGeom prst="rect">
            <a:avLst/>
          </a:prstGeom>
        </p:spPr>
      </p:pic>
      <p:sp>
        <p:nvSpPr>
          <p:cNvPr id="5" name="Text 2"/>
          <p:cNvSpPr/>
          <p:nvPr/>
        </p:nvSpPr>
        <p:spPr>
          <a:xfrm>
            <a:off x="502920" y="2194560"/>
            <a:ext cx="2926080" cy="1371600"/>
          </a:xfrm>
          <a:prstGeom prst="rect">
            <a:avLst/>
          </a:prstGeom>
          <a:noFill/>
          <a:ln/>
        </p:spPr>
        <p:txBody>
          <a:bodyPr wrap="square" rtlCol="0" anchor="ctr"/>
          <a:lstStyle/>
          <a:p>
            <a:pPr indent="0" marL="0">
              <a:lnSpc>
                <a:spcPts val="1900"/>
              </a:lnSpc>
              <a:buNone/>
            </a:pPr>
            <a:r>
              <a:rPr lang="en-US" sz="1300" dirty="0">
                <a:solidFill>
                  <a:srgbClr val="2A2A2A"/>
                </a:solidFill>
              </a:rPr>
              <a:t>Le meilleur modele par denree est reentraine sur l'integralite des donnees puis projette de maniere recursive les 12 prochaines semaines.</a:t>
            </a:r>
            <a:endParaRPr lang="en-US" sz="1300" dirty="0"/>
          </a:p>
        </p:txBody>
      </p:sp>
      <p:sp>
        <p:nvSpPr>
          <p:cNvPr id="6" name="Text 3"/>
          <p:cNvSpPr/>
          <p:nvPr/>
        </p:nvSpPr>
        <p:spPr>
          <a:xfrm>
            <a:off x="8778240" y="2194560"/>
            <a:ext cx="2926080" cy="1371600"/>
          </a:xfrm>
          <a:prstGeom prst="rect">
            <a:avLst/>
          </a:prstGeom>
          <a:noFill/>
          <a:ln/>
        </p:spPr>
        <p:txBody>
          <a:bodyPr wrap="square" rtlCol="0" anchor="ctr"/>
          <a:lstStyle/>
          <a:p>
            <a:pPr indent="0" marL="0">
              <a:lnSpc>
                <a:spcPts val="1900"/>
              </a:lnSpc>
              <a:buNone/>
            </a:pPr>
            <a:r>
              <a:rPr lang="en-US" sz="1300" b="1" i="1" dirty="0">
                <a:solidFill>
                  <a:srgbClr val="1B3A5C"/>
                </a:solidFill>
              </a:rPr>
              <a:t>Utilite operationnelle : ces projections alimentent directement le systeme d'alerte precoce sur l'insecurite alimentaire.</a:t>
            </a:r>
            <a:endParaRPr lang="en-US" sz="1300" dirty="0"/>
          </a:p>
        </p:txBody>
      </p:sp>
      <p:sp>
        <p:nvSpPr>
          <p:cNvPr id="7" name="Text 4"/>
          <p:cNvSpPr/>
          <p:nvPr/>
        </p:nvSpPr>
        <p:spPr>
          <a:xfrm>
            <a:off x="502920" y="6400800"/>
            <a:ext cx="5486400" cy="274320"/>
          </a:xfrm>
          <a:prstGeom prst="rect">
            <a:avLst/>
          </a:prstGeom>
          <a:noFill/>
          <a:ln/>
        </p:spPr>
        <p:txBody>
          <a:bodyPr wrap="square" rtlCol="0" anchor="ctr"/>
          <a:lstStyle/>
          <a:p>
            <a:pPr indent="0" marL="0">
              <a:buNone/>
            </a:pPr>
            <a:r>
              <a:rPr lang="en-US" sz="1000" dirty="0">
                <a:solidFill>
                  <a:srgbClr val="5A6B7A"/>
                </a:solidFill>
              </a:rPr>
              <a:t>Fouille de Donnees M1  -  Projet P19</a:t>
            </a:r>
            <a:endParaRPr lang="en-US" sz="1000" dirty="0"/>
          </a:p>
        </p:txBody>
      </p:sp>
      <p:sp>
        <p:nvSpPr>
          <p:cNvPr id="8" name="Text 5"/>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6B7A"/>
                </a:solidFill>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109728"/>
            <a:ext cx="11183112" cy="292608"/>
          </a:xfrm>
          <a:prstGeom prst="rect">
            <a:avLst/>
          </a:prstGeom>
          <a:noFill/>
          <a:ln/>
        </p:spPr>
        <p:txBody>
          <a:bodyPr wrap="square" rtlCol="0" anchor="ctr"/>
          <a:lstStyle/>
          <a:p>
            <a:pPr indent="0" marL="0">
              <a:buNone/>
            </a:pPr>
            <a:r>
              <a:rPr lang="en-US" sz="1200" b="1" spc="200" kern="0" dirty="0">
                <a:solidFill>
                  <a:srgbClr val="2E86AB"/>
                </a:solidFill>
                <a:latin typeface="Calibri" pitchFamily="34" charset="0"/>
                <a:ea typeface="Calibri" pitchFamily="34" charset="-122"/>
                <a:cs typeface="Calibri" pitchFamily="34" charset="-120"/>
              </a:rPr>
              <a:t>6-7. INTERPRETATION, LIMITES ET RECOMMANDATIONS</a:t>
            </a:r>
            <a:endParaRPr lang="en-US" sz="1200" dirty="0"/>
          </a:p>
        </p:txBody>
      </p:sp>
      <p:sp>
        <p:nvSpPr>
          <p:cNvPr id="3" name="Text 1"/>
          <p:cNvSpPr/>
          <p:nvPr/>
        </p:nvSpPr>
        <p:spPr>
          <a:xfrm>
            <a:off x="502920" y="365760"/>
            <a:ext cx="11183112" cy="822960"/>
          </a:xfrm>
          <a:prstGeom prst="rect">
            <a:avLst/>
          </a:prstGeom>
          <a:noFill/>
          <a:ln/>
        </p:spPr>
        <p:txBody>
          <a:bodyPr wrap="square" rtlCol="0" anchor="ctr"/>
          <a:lstStyle/>
          <a:p>
            <a:pPr algn="l" indent="0" marL="0">
              <a:buNone/>
            </a:pPr>
            <a:r>
              <a:rPr lang="en-US" sz="3000" b="1" dirty="0">
                <a:solidFill>
                  <a:srgbClr val="1B3A5C"/>
                </a:solidFill>
                <a:latin typeface="Calibri" pitchFamily="34" charset="0"/>
                <a:ea typeface="Calibri" pitchFamily="34" charset="-122"/>
                <a:cs typeface="Calibri" pitchFamily="34" charset="-120"/>
              </a:rPr>
              <a:t>Limites, recommandations et pistes d'amelioration</a:t>
            </a:r>
            <a:endParaRPr lang="en-US" sz="3000" dirty="0"/>
          </a:p>
        </p:txBody>
      </p:sp>
      <p:sp>
        <p:nvSpPr>
          <p:cNvPr id="4" name="Shape 2"/>
          <p:cNvSpPr/>
          <p:nvPr/>
        </p:nvSpPr>
        <p:spPr>
          <a:xfrm>
            <a:off x="502920" y="1463040"/>
            <a:ext cx="5440680" cy="4572000"/>
          </a:xfrm>
          <a:prstGeom prst="roundRect">
            <a:avLst>
              <a:gd name="adj" fmla="val 1600"/>
            </a:avLst>
          </a:prstGeom>
          <a:solidFill>
            <a:srgbClr val="FBEAEA"/>
          </a:solidFill>
          <a:ln/>
        </p:spPr>
      </p:sp>
      <p:sp>
        <p:nvSpPr>
          <p:cNvPr id="5" name="Text 3"/>
          <p:cNvSpPr/>
          <p:nvPr/>
        </p:nvSpPr>
        <p:spPr>
          <a:xfrm>
            <a:off x="777240" y="1691640"/>
            <a:ext cx="4846320" cy="274320"/>
          </a:xfrm>
          <a:prstGeom prst="rect">
            <a:avLst/>
          </a:prstGeom>
          <a:noFill/>
          <a:ln/>
        </p:spPr>
        <p:txBody>
          <a:bodyPr wrap="square" rtlCol="0" anchor="ctr"/>
          <a:lstStyle/>
          <a:p>
            <a:pPr indent="0" marL="0">
              <a:buNone/>
            </a:pPr>
            <a:r>
              <a:rPr lang="en-US" sz="1300" b="1" spc="100" kern="0" dirty="0">
                <a:solidFill>
                  <a:srgbClr val="B03A2E"/>
                </a:solidFill>
              </a:rPr>
              <a:t>LIMITES</a:t>
            </a:r>
            <a:endParaRPr lang="en-US" sz="1300" dirty="0"/>
          </a:p>
        </p:txBody>
      </p:sp>
      <p:sp>
        <p:nvSpPr>
          <p:cNvPr id="6" name="Text 4"/>
          <p:cNvSpPr/>
          <p:nvPr/>
        </p:nvSpPr>
        <p:spPr>
          <a:xfrm>
            <a:off x="777240" y="2148840"/>
            <a:ext cx="4846320" cy="640080"/>
          </a:xfrm>
          <a:prstGeom prst="rect">
            <a:avLst/>
          </a:prstGeom>
          <a:noFill/>
          <a:ln/>
        </p:spPr>
        <p:txBody>
          <a:bodyPr wrap="square" rtlCol="0" anchor="ctr"/>
          <a:lstStyle/>
          <a:p>
            <a:pPr marL="342900" indent="-342900">
              <a:lnSpc>
                <a:spcPts val="1700"/>
              </a:lnSpc>
              <a:buSzPct val="100000"/>
              <a:buChar char="•"/>
            </a:pPr>
            <a:r>
              <a:rPr lang="en-US" sz="1300" dirty="0">
                <a:solidFill>
                  <a:srgbClr val="5A2A22"/>
                </a:solidFill>
              </a:rPr>
              <a:t>Donnees synthetiques (pas d'acces reseau) : a valider sur le jeu HDX/PAM reel</a:t>
            </a:r>
            <a:endParaRPr lang="en-US" sz="1300" dirty="0"/>
          </a:p>
        </p:txBody>
      </p:sp>
      <p:sp>
        <p:nvSpPr>
          <p:cNvPr id="7" name="Text 5"/>
          <p:cNvSpPr/>
          <p:nvPr/>
        </p:nvSpPr>
        <p:spPr>
          <a:xfrm>
            <a:off x="777240" y="2743200"/>
            <a:ext cx="4846320" cy="640080"/>
          </a:xfrm>
          <a:prstGeom prst="rect">
            <a:avLst/>
          </a:prstGeom>
          <a:noFill/>
          <a:ln/>
        </p:spPr>
        <p:txBody>
          <a:bodyPr wrap="square" rtlCol="0" anchor="ctr"/>
          <a:lstStyle/>
          <a:p>
            <a:pPr marL="342900" indent="-342900">
              <a:lnSpc>
                <a:spcPts val="1700"/>
              </a:lnSpc>
              <a:buSzPct val="100000"/>
              <a:buChar char="•"/>
            </a:pPr>
            <a:r>
              <a:rPr lang="en-US" sz="1300" dirty="0">
                <a:solidFill>
                  <a:srgbClr val="5A2A22"/>
                </a:solidFill>
              </a:rPr>
              <a:t>SARIMA / Prophet non installables hors-ligne</a:t>
            </a:r>
            <a:endParaRPr lang="en-US" sz="1300" dirty="0"/>
          </a:p>
        </p:txBody>
      </p:sp>
      <p:sp>
        <p:nvSpPr>
          <p:cNvPr id="8" name="Text 6"/>
          <p:cNvSpPr/>
          <p:nvPr/>
        </p:nvSpPr>
        <p:spPr>
          <a:xfrm>
            <a:off x="777240" y="3337560"/>
            <a:ext cx="4846320" cy="640080"/>
          </a:xfrm>
          <a:prstGeom prst="rect">
            <a:avLst/>
          </a:prstGeom>
          <a:noFill/>
          <a:ln/>
        </p:spPr>
        <p:txBody>
          <a:bodyPr wrap="square" rtlCol="0" anchor="ctr"/>
          <a:lstStyle/>
          <a:p>
            <a:pPr marL="342900" indent="-342900">
              <a:lnSpc>
                <a:spcPts val="1700"/>
              </a:lnSpc>
              <a:buSzPct val="100000"/>
              <a:buChar char="•"/>
            </a:pPr>
            <a:r>
              <a:rPr lang="en-US" sz="1300" dirty="0">
                <a:solidFill>
                  <a:srgbClr val="5A2A22"/>
                </a:solidFill>
              </a:rPr>
              <a:t>Agregation nationale : masque les disparites entre marches</a:t>
            </a:r>
            <a:endParaRPr lang="en-US" sz="1300" dirty="0"/>
          </a:p>
        </p:txBody>
      </p:sp>
      <p:sp>
        <p:nvSpPr>
          <p:cNvPr id="9" name="Text 7"/>
          <p:cNvSpPr/>
          <p:nvPr/>
        </p:nvSpPr>
        <p:spPr>
          <a:xfrm>
            <a:off x="777240" y="3931920"/>
            <a:ext cx="4846320" cy="640080"/>
          </a:xfrm>
          <a:prstGeom prst="rect">
            <a:avLst/>
          </a:prstGeom>
          <a:noFill/>
          <a:ln/>
        </p:spPr>
        <p:txBody>
          <a:bodyPr wrap="square" rtlCol="0" anchor="ctr"/>
          <a:lstStyle/>
          <a:p>
            <a:pPr marL="342900" indent="-342900">
              <a:lnSpc>
                <a:spcPts val="1700"/>
              </a:lnSpc>
              <a:buSzPct val="100000"/>
              <a:buChar char="•"/>
            </a:pPr>
            <a:r>
              <a:rPr lang="en-US" sz="1300" dirty="0">
                <a:solidFill>
                  <a:srgbClr val="5A2A22"/>
                </a:solidFill>
              </a:rPr>
              <a:t>Aucune variable exogene (taux de change, cours mondiaux)</a:t>
            </a:r>
            <a:endParaRPr lang="en-US" sz="1300" dirty="0"/>
          </a:p>
        </p:txBody>
      </p:sp>
      <p:sp>
        <p:nvSpPr>
          <p:cNvPr id="10" name="Text 8"/>
          <p:cNvSpPr/>
          <p:nvPr/>
        </p:nvSpPr>
        <p:spPr>
          <a:xfrm>
            <a:off x="777240" y="4526280"/>
            <a:ext cx="4846320" cy="640080"/>
          </a:xfrm>
          <a:prstGeom prst="rect">
            <a:avLst/>
          </a:prstGeom>
          <a:noFill/>
          <a:ln/>
        </p:spPr>
        <p:txBody>
          <a:bodyPr wrap="square" rtlCol="0" anchor="ctr"/>
          <a:lstStyle/>
          <a:p>
            <a:pPr marL="342900" indent="-342900">
              <a:lnSpc>
                <a:spcPts val="1700"/>
              </a:lnSpc>
              <a:buSzPct val="100000"/>
              <a:buChar char="•"/>
            </a:pPr>
            <a:r>
              <a:rPr lang="en-US" sz="1300" dirty="0">
                <a:solidFill>
                  <a:srgbClr val="5A2A22"/>
                </a:solidFill>
              </a:rPr>
              <a:t>Hyperparametres non optimises finement</a:t>
            </a:r>
            <a:endParaRPr lang="en-US" sz="1300" dirty="0"/>
          </a:p>
        </p:txBody>
      </p:sp>
      <p:sp>
        <p:nvSpPr>
          <p:cNvPr id="11" name="Shape 9"/>
          <p:cNvSpPr/>
          <p:nvPr/>
        </p:nvSpPr>
        <p:spPr>
          <a:xfrm>
            <a:off x="6217920" y="1463040"/>
            <a:ext cx="5440680" cy="4572000"/>
          </a:xfrm>
          <a:prstGeom prst="roundRect">
            <a:avLst>
              <a:gd name="adj" fmla="val 1600"/>
            </a:avLst>
          </a:prstGeom>
          <a:solidFill>
            <a:srgbClr val="E9F7EF"/>
          </a:solidFill>
          <a:ln/>
        </p:spPr>
      </p:sp>
      <p:sp>
        <p:nvSpPr>
          <p:cNvPr id="12" name="Text 10"/>
          <p:cNvSpPr/>
          <p:nvPr/>
        </p:nvSpPr>
        <p:spPr>
          <a:xfrm>
            <a:off x="6492240" y="1691640"/>
            <a:ext cx="4846320" cy="274320"/>
          </a:xfrm>
          <a:prstGeom prst="rect">
            <a:avLst/>
          </a:prstGeom>
          <a:noFill/>
          <a:ln/>
        </p:spPr>
        <p:txBody>
          <a:bodyPr wrap="square" rtlCol="0" anchor="ctr"/>
          <a:lstStyle/>
          <a:p>
            <a:pPr indent="0" marL="0">
              <a:buNone/>
            </a:pPr>
            <a:r>
              <a:rPr lang="en-US" sz="1300" b="1" spc="100" kern="0" dirty="0">
                <a:solidFill>
                  <a:srgbClr val="1E8449"/>
                </a:solidFill>
              </a:rPr>
              <a:t>RECOMMANDATIONS METIER</a:t>
            </a:r>
            <a:endParaRPr lang="en-US" sz="1300" dirty="0"/>
          </a:p>
        </p:txBody>
      </p:sp>
      <p:sp>
        <p:nvSpPr>
          <p:cNvPr id="13" name="Text 11"/>
          <p:cNvSpPr/>
          <p:nvPr/>
        </p:nvSpPr>
        <p:spPr>
          <a:xfrm>
            <a:off x="6492240" y="2148840"/>
            <a:ext cx="4846320" cy="777240"/>
          </a:xfrm>
          <a:prstGeom prst="rect">
            <a:avLst/>
          </a:prstGeom>
          <a:noFill/>
          <a:ln/>
        </p:spPr>
        <p:txBody>
          <a:bodyPr wrap="square" rtlCol="0" anchor="ctr"/>
          <a:lstStyle/>
          <a:p>
            <a:pPr marL="342900" indent="-342900">
              <a:lnSpc>
                <a:spcPts val="1700"/>
              </a:lnSpc>
              <a:buSzPct val="100000"/>
              <a:buChar char="•"/>
            </a:pPr>
            <a:r>
              <a:rPr lang="en-US" sz="1300" dirty="0">
                <a:solidFill>
                  <a:srgbClr val="17593A"/>
                </a:solidFill>
              </a:rPr>
              <a:t>Calibrer le seuil d'alerte denree par denree (le riz est plus fiable que l'huile)</a:t>
            </a:r>
            <a:endParaRPr lang="en-US" sz="1300" dirty="0"/>
          </a:p>
        </p:txBody>
      </p:sp>
      <p:sp>
        <p:nvSpPr>
          <p:cNvPr id="14" name="Text 12"/>
          <p:cNvSpPr/>
          <p:nvPr/>
        </p:nvSpPr>
        <p:spPr>
          <a:xfrm>
            <a:off x="6492240" y="2926080"/>
            <a:ext cx="4846320" cy="777240"/>
          </a:xfrm>
          <a:prstGeom prst="rect">
            <a:avLst/>
          </a:prstGeom>
          <a:noFill/>
          <a:ln/>
        </p:spPr>
        <p:txBody>
          <a:bodyPr wrap="square" rtlCol="0" anchor="ctr"/>
          <a:lstStyle/>
          <a:p>
            <a:pPr marL="342900" indent="-342900">
              <a:lnSpc>
                <a:spcPts val="1700"/>
              </a:lnSpc>
              <a:buSzPct val="100000"/>
              <a:buChar char="•"/>
            </a:pPr>
            <a:r>
              <a:rPr lang="en-US" sz="1300" dirty="0">
                <a:solidFill>
                  <a:srgbClr val="17593A"/>
                </a:solidFill>
              </a:rPr>
              <a:t>Exploiter la forte correlation entre denrees : un choc sur l'une doit alerter sur les autres</a:t>
            </a:r>
            <a:endParaRPr lang="en-US" sz="1300" dirty="0"/>
          </a:p>
        </p:txBody>
      </p:sp>
      <p:sp>
        <p:nvSpPr>
          <p:cNvPr id="15" name="Text 13"/>
          <p:cNvSpPr/>
          <p:nvPr/>
        </p:nvSpPr>
        <p:spPr>
          <a:xfrm>
            <a:off x="6492240" y="3703320"/>
            <a:ext cx="4846320" cy="777240"/>
          </a:xfrm>
          <a:prstGeom prst="rect">
            <a:avLst/>
          </a:prstGeom>
          <a:noFill/>
          <a:ln/>
        </p:spPr>
        <p:txBody>
          <a:bodyPr wrap="square" rtlCol="0" anchor="ctr"/>
          <a:lstStyle/>
          <a:p>
            <a:pPr marL="342900" indent="-342900">
              <a:lnSpc>
                <a:spcPts val="1700"/>
              </a:lnSpc>
              <a:buSzPct val="100000"/>
              <a:buChar char="•"/>
            </a:pPr>
            <a:r>
              <a:rPr lang="en-US" sz="1300" dirty="0">
                <a:solidFill>
                  <a:srgbClr val="17593A"/>
                </a:solidFill>
              </a:rPr>
              <a:t>Integrer un indicateur exogene (cours mondial de l'huile de palme, taux GNF/USD)</a:t>
            </a:r>
            <a:endParaRPr lang="en-US" sz="1300" dirty="0"/>
          </a:p>
        </p:txBody>
      </p:sp>
      <p:sp>
        <p:nvSpPr>
          <p:cNvPr id="16" name="Text 14"/>
          <p:cNvSpPr/>
          <p:nvPr/>
        </p:nvSpPr>
        <p:spPr>
          <a:xfrm>
            <a:off x="6492240" y="4480560"/>
            <a:ext cx="4846320" cy="777240"/>
          </a:xfrm>
          <a:prstGeom prst="rect">
            <a:avLst/>
          </a:prstGeom>
          <a:noFill/>
          <a:ln/>
        </p:spPr>
        <p:txBody>
          <a:bodyPr wrap="square" rtlCol="0" anchor="ctr"/>
          <a:lstStyle/>
          <a:p>
            <a:pPr marL="342900" indent="-342900">
              <a:lnSpc>
                <a:spcPts val="1700"/>
              </a:lnSpc>
              <a:buSzPct val="100000"/>
              <a:buChar char="•"/>
            </a:pPr>
            <a:r>
              <a:rPr lang="en-US" sz="1300" dirty="0">
                <a:solidFill>
                  <a:srgbClr val="17593A"/>
                </a:solidFill>
              </a:rPr>
              <a:t>Passer aux donnees reelles HDX/PAM des que possible</a:t>
            </a:r>
            <a:endParaRPr lang="en-US" sz="1300" dirty="0"/>
          </a:p>
        </p:txBody>
      </p:sp>
      <p:sp>
        <p:nvSpPr>
          <p:cNvPr id="17" name="Text 15"/>
          <p:cNvSpPr/>
          <p:nvPr/>
        </p:nvSpPr>
        <p:spPr>
          <a:xfrm>
            <a:off x="502920" y="6400800"/>
            <a:ext cx="5486400" cy="274320"/>
          </a:xfrm>
          <a:prstGeom prst="rect">
            <a:avLst/>
          </a:prstGeom>
          <a:noFill/>
          <a:ln/>
        </p:spPr>
        <p:txBody>
          <a:bodyPr wrap="square" rtlCol="0" anchor="ctr"/>
          <a:lstStyle/>
          <a:p>
            <a:pPr indent="0" marL="0">
              <a:buNone/>
            </a:pPr>
            <a:r>
              <a:rPr lang="en-US" sz="1000" dirty="0">
                <a:solidFill>
                  <a:srgbClr val="5A6B7A"/>
                </a:solidFill>
              </a:rPr>
              <a:t>Fouille de Donnees M1  -  Projet P19</a:t>
            </a:r>
            <a:endParaRPr lang="en-US" sz="1000" dirty="0"/>
          </a:p>
        </p:txBody>
      </p:sp>
      <p:sp>
        <p:nvSpPr>
          <p:cNvPr id="18" name="Text 16"/>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6B7A"/>
                </a:solidFill>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283F"/>
        </a:solidFill>
      </p:bgPr>
    </p:bg>
    <p:spTree>
      <p:nvGrpSpPr>
        <p:cNvPr id="1" name=""/>
        <p:cNvGrpSpPr/>
        <p:nvPr/>
      </p:nvGrpSpPr>
      <p:grpSpPr>
        <a:xfrm>
          <a:off x="0" y="0"/>
          <a:ext cx="0" cy="0"/>
          <a:chOff x="0" y="0"/>
          <a:chExt cx="0" cy="0"/>
        </a:xfrm>
      </p:grpSpPr>
      <p:sp>
        <p:nvSpPr>
          <p:cNvPr id="2" name="Text 0"/>
          <p:cNvSpPr/>
          <p:nvPr/>
        </p:nvSpPr>
        <p:spPr>
          <a:xfrm>
            <a:off x="731520" y="822960"/>
            <a:ext cx="9144000" cy="640080"/>
          </a:xfrm>
          <a:prstGeom prst="rect">
            <a:avLst/>
          </a:prstGeom>
          <a:noFill/>
          <a:ln/>
        </p:spPr>
        <p:txBody>
          <a:bodyPr wrap="square" rtlCol="0" anchor="ctr"/>
          <a:lstStyle/>
          <a:p>
            <a:pPr indent="0" marL="0">
              <a:buNone/>
            </a:pPr>
            <a:r>
              <a:rPr lang="en-US" sz="3200" b="1" dirty="0">
                <a:solidFill>
                  <a:srgbClr val="FFFFFF"/>
                </a:solidFill>
              </a:rPr>
              <a:t>Conclusion</a:t>
            </a:r>
            <a:endParaRPr lang="en-US" sz="3200" dirty="0"/>
          </a:p>
        </p:txBody>
      </p:sp>
      <p:sp>
        <p:nvSpPr>
          <p:cNvPr id="3" name="Text 1"/>
          <p:cNvSpPr/>
          <p:nvPr/>
        </p:nvSpPr>
        <p:spPr>
          <a:xfrm>
            <a:off x="731520" y="1645920"/>
            <a:ext cx="6675120" cy="1645920"/>
          </a:xfrm>
          <a:prstGeom prst="rect">
            <a:avLst/>
          </a:prstGeom>
          <a:noFill/>
          <a:ln/>
        </p:spPr>
        <p:txBody>
          <a:bodyPr wrap="square" rtlCol="0" anchor="ctr"/>
          <a:lstStyle/>
          <a:p>
            <a:pPr indent="0" marL="0">
              <a:lnSpc>
                <a:spcPts val="2200"/>
              </a:lnSpc>
              <a:buNone/>
            </a:pPr>
            <a:r>
              <a:rPr lang="en-US" sz="1500" dirty="0">
                <a:solidFill>
                  <a:srgbClr val="CFE0EC"/>
                </a:solidFill>
              </a:rPr>
              <a:t>La methodologie CRISP-DM appliquee a la prevision multi-series des prix alimentaires en Guinee montre que les modeles a base d'arbres exploitant des variables retardees surpassent nettement le lissage exponentiel saisonnier des que la serie combine tendance et chocs macro-economiques ponctuels.</a:t>
            </a:r>
            <a:endParaRPr lang="en-US" sz="1500" dirty="0"/>
          </a:p>
        </p:txBody>
      </p:sp>
      <p:sp>
        <p:nvSpPr>
          <p:cNvPr id="4" name="Text 2"/>
          <p:cNvSpPr/>
          <p:nvPr/>
        </p:nvSpPr>
        <p:spPr>
          <a:xfrm>
            <a:off x="731520" y="3657600"/>
            <a:ext cx="2011680" cy="548640"/>
          </a:xfrm>
          <a:prstGeom prst="rect">
            <a:avLst/>
          </a:prstGeom>
          <a:noFill/>
          <a:ln/>
        </p:spPr>
        <p:txBody>
          <a:bodyPr wrap="square" rtlCol="0" anchor="ctr"/>
          <a:lstStyle/>
          <a:p>
            <a:pPr indent="0" marL="0">
              <a:buNone/>
            </a:pPr>
            <a:r>
              <a:rPr lang="en-US" sz="3000" b="1" dirty="0">
                <a:solidFill>
                  <a:srgbClr val="2E86AB"/>
                </a:solidFill>
              </a:rPr>
              <a:t>0,65</a:t>
            </a:r>
            <a:endParaRPr lang="en-US" sz="3000" dirty="0"/>
          </a:p>
        </p:txBody>
      </p:sp>
      <p:sp>
        <p:nvSpPr>
          <p:cNvPr id="5" name="Text 3"/>
          <p:cNvSpPr/>
          <p:nvPr/>
        </p:nvSpPr>
        <p:spPr>
          <a:xfrm>
            <a:off x="731520" y="4206240"/>
            <a:ext cx="2011680" cy="640080"/>
          </a:xfrm>
          <a:prstGeom prst="rect">
            <a:avLst/>
          </a:prstGeom>
          <a:noFill/>
          <a:ln/>
        </p:spPr>
        <p:txBody>
          <a:bodyPr wrap="square" rtlCol="0" anchor="ctr"/>
          <a:lstStyle/>
          <a:p>
            <a:pPr indent="0" marL="0">
              <a:lnSpc>
                <a:spcPts val="1500"/>
              </a:lnSpc>
              <a:buNone/>
            </a:pPr>
            <a:r>
              <a:rPr lang="en-US" sz="1200" dirty="0">
                <a:solidFill>
                  <a:srgbClr val="9FB8CC"/>
                </a:solidFill>
              </a:rPr>
              <a:t>R2 sur le riz</a:t>
            </a:r>
            <a:endParaRPr lang="en-US" sz="1200" dirty="0"/>
          </a:p>
          <a:p>
            <a:pPr indent="0" marL="0">
              <a:lnSpc>
                <a:spcPts val="1500"/>
              </a:lnSpc>
              <a:buNone/>
            </a:pPr>
            <a:r>
              <a:rPr lang="en-US" sz="1200" dirty="0">
                <a:solidFill>
                  <a:srgbClr val="9FB8CC"/>
                </a:solidFill>
              </a:rPr>
              <a:t>(meilleur resultat)</a:t>
            </a:r>
            <a:endParaRPr lang="en-US" sz="1200" dirty="0"/>
          </a:p>
        </p:txBody>
      </p:sp>
      <p:sp>
        <p:nvSpPr>
          <p:cNvPr id="6" name="Text 4"/>
          <p:cNvSpPr/>
          <p:nvPr/>
        </p:nvSpPr>
        <p:spPr>
          <a:xfrm>
            <a:off x="2971800" y="3657600"/>
            <a:ext cx="2011680" cy="548640"/>
          </a:xfrm>
          <a:prstGeom prst="rect">
            <a:avLst/>
          </a:prstGeom>
          <a:noFill/>
          <a:ln/>
        </p:spPr>
        <p:txBody>
          <a:bodyPr wrap="square" rtlCol="0" anchor="ctr"/>
          <a:lstStyle/>
          <a:p>
            <a:pPr indent="0" marL="0">
              <a:buNone/>
            </a:pPr>
            <a:r>
              <a:rPr lang="en-US" sz="3000" b="1" dirty="0">
                <a:solidFill>
                  <a:srgbClr val="E67E22"/>
                </a:solidFill>
              </a:rPr>
              <a:t>12 sem.</a:t>
            </a:r>
            <a:endParaRPr lang="en-US" sz="3000" dirty="0"/>
          </a:p>
        </p:txBody>
      </p:sp>
      <p:sp>
        <p:nvSpPr>
          <p:cNvPr id="7" name="Text 5"/>
          <p:cNvSpPr/>
          <p:nvPr/>
        </p:nvSpPr>
        <p:spPr>
          <a:xfrm>
            <a:off x="2971800" y="4206240"/>
            <a:ext cx="2011680" cy="640080"/>
          </a:xfrm>
          <a:prstGeom prst="rect">
            <a:avLst/>
          </a:prstGeom>
          <a:noFill/>
          <a:ln/>
        </p:spPr>
        <p:txBody>
          <a:bodyPr wrap="square" rtlCol="0" anchor="ctr"/>
          <a:lstStyle/>
          <a:p>
            <a:pPr indent="0" marL="0">
              <a:lnSpc>
                <a:spcPts val="1500"/>
              </a:lnSpc>
              <a:buNone/>
            </a:pPr>
            <a:r>
              <a:rPr lang="en-US" sz="1200" dirty="0">
                <a:solidFill>
                  <a:srgbClr val="9FB8CC"/>
                </a:solidFill>
              </a:rPr>
              <a:t>Horizon de</a:t>
            </a:r>
            <a:endParaRPr lang="en-US" sz="1200" dirty="0"/>
          </a:p>
          <a:p>
            <a:pPr indent="0" marL="0">
              <a:lnSpc>
                <a:spcPts val="1500"/>
              </a:lnSpc>
              <a:buNone/>
            </a:pPr>
            <a:r>
              <a:rPr lang="en-US" sz="1200" dirty="0">
                <a:solidFill>
                  <a:srgbClr val="9FB8CC"/>
                </a:solidFill>
              </a:rPr>
              <a:t>prevision operationnel</a:t>
            </a:r>
            <a:endParaRPr lang="en-US" sz="1200" dirty="0"/>
          </a:p>
        </p:txBody>
      </p:sp>
      <p:sp>
        <p:nvSpPr>
          <p:cNvPr id="8" name="Text 6"/>
          <p:cNvSpPr/>
          <p:nvPr/>
        </p:nvSpPr>
        <p:spPr>
          <a:xfrm>
            <a:off x="5212080" y="3657600"/>
            <a:ext cx="2011680" cy="548640"/>
          </a:xfrm>
          <a:prstGeom prst="rect">
            <a:avLst/>
          </a:prstGeom>
          <a:noFill/>
          <a:ln/>
        </p:spPr>
        <p:txBody>
          <a:bodyPr wrap="square" rtlCol="0" anchor="ctr"/>
          <a:lstStyle/>
          <a:p>
            <a:pPr indent="0" marL="0">
              <a:buNone/>
            </a:pPr>
            <a:r>
              <a:rPr lang="en-US" sz="3000" b="1" dirty="0">
                <a:solidFill>
                  <a:srgbClr val="27AE60"/>
                </a:solidFill>
              </a:rPr>
              <a:t>3</a:t>
            </a:r>
            <a:endParaRPr lang="en-US" sz="3000" dirty="0"/>
          </a:p>
        </p:txBody>
      </p:sp>
      <p:sp>
        <p:nvSpPr>
          <p:cNvPr id="9" name="Text 7"/>
          <p:cNvSpPr/>
          <p:nvPr/>
        </p:nvSpPr>
        <p:spPr>
          <a:xfrm>
            <a:off x="5212080" y="4206240"/>
            <a:ext cx="2011680" cy="640080"/>
          </a:xfrm>
          <a:prstGeom prst="rect">
            <a:avLst/>
          </a:prstGeom>
          <a:noFill/>
          <a:ln/>
        </p:spPr>
        <p:txBody>
          <a:bodyPr wrap="square" rtlCol="0" anchor="ctr"/>
          <a:lstStyle/>
          <a:p>
            <a:pPr indent="0" marL="0">
              <a:lnSpc>
                <a:spcPts val="1500"/>
              </a:lnSpc>
              <a:buNone/>
            </a:pPr>
            <a:r>
              <a:rPr lang="en-US" sz="1200" dirty="0">
                <a:solidFill>
                  <a:srgbClr val="9FB8CC"/>
                </a:solidFill>
              </a:rPr>
              <a:t>algorithmes</a:t>
            </a:r>
            <a:endParaRPr lang="en-US" sz="1200" dirty="0"/>
          </a:p>
          <a:p>
            <a:pPr indent="0" marL="0">
              <a:lnSpc>
                <a:spcPts val="1500"/>
              </a:lnSpc>
              <a:buNone/>
            </a:pPr>
            <a:r>
              <a:rPr lang="en-US" sz="1200" dirty="0">
                <a:solidFill>
                  <a:srgbClr val="9FB8CC"/>
                </a:solidFill>
              </a:rPr>
              <a:t>rigoureusement compares</a:t>
            </a:r>
            <a:endParaRPr lang="en-US" sz="1200" dirty="0"/>
          </a:p>
        </p:txBody>
      </p:sp>
      <p:sp>
        <p:nvSpPr>
          <p:cNvPr id="10" name="Shape 8"/>
          <p:cNvSpPr/>
          <p:nvPr/>
        </p:nvSpPr>
        <p:spPr>
          <a:xfrm>
            <a:off x="731520" y="5394960"/>
            <a:ext cx="10698480" cy="0"/>
          </a:xfrm>
          <a:prstGeom prst="line">
            <a:avLst/>
          </a:prstGeom>
          <a:noFill/>
          <a:ln w="12700">
            <a:solidFill>
              <a:srgbClr val="3A5A78"/>
            </a:solidFill>
            <a:prstDash val="solid"/>
          </a:ln>
        </p:spPr>
      </p:sp>
      <p:sp>
        <p:nvSpPr>
          <p:cNvPr id="11" name="Text 9"/>
          <p:cNvSpPr/>
          <p:nvPr/>
        </p:nvSpPr>
        <p:spPr>
          <a:xfrm>
            <a:off x="731520" y="5577840"/>
            <a:ext cx="10698480" cy="365760"/>
          </a:xfrm>
          <a:prstGeom prst="rect">
            <a:avLst/>
          </a:prstGeom>
          <a:noFill/>
          <a:ln/>
        </p:spPr>
        <p:txBody>
          <a:bodyPr wrap="square" rtlCol="0" anchor="ctr"/>
          <a:lstStyle/>
          <a:p>
            <a:pPr indent="0" marL="0">
              <a:buNone/>
            </a:pPr>
            <a:r>
              <a:rPr lang="en-US" sz="1200" dirty="0">
                <a:solidFill>
                  <a:srgbClr val="9FB8CC"/>
                </a:solidFill>
              </a:rPr>
              <a:t>Etudiant en Master 1 - Fouille de Donnees, Universite Kofi Annan de Guinee  |  Projet individuel - Sujet P19</a:t>
            </a:r>
            <a:endParaRPr lang="en-US" sz="1200" dirty="0"/>
          </a:p>
        </p:txBody>
      </p:sp>
      <p:sp>
        <p:nvSpPr>
          <p:cNvPr id="12" name="Text 10"/>
          <p:cNvSpPr/>
          <p:nvPr/>
        </p:nvSpPr>
        <p:spPr>
          <a:xfrm>
            <a:off x="11548872" y="6400800"/>
            <a:ext cx="365760" cy="274320"/>
          </a:xfrm>
          <a:prstGeom prst="rect">
            <a:avLst/>
          </a:prstGeom>
          <a:noFill/>
          <a:ln/>
        </p:spPr>
        <p:txBody>
          <a:bodyPr wrap="square" rtlCol="0" anchor="ctr"/>
          <a:lstStyle/>
          <a:p>
            <a:pPr algn="r" indent="0" marL="0">
              <a:buNone/>
            </a:pPr>
            <a:r>
              <a:rPr lang="en-US" sz="1000" dirty="0">
                <a:solidFill>
                  <a:srgbClr val="5A6B7A"/>
                </a:solidFill>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2026-08-14T01:03:14Z</dcterms:created>
  <dcterms:modified xsi:type="dcterms:W3CDTF">2026-08-14T01:03:14Z</dcterms:modified>
</cp:coreProperties>
</file>